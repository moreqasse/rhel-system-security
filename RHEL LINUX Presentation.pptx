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media/image3.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66" r:id="rId4"/>
    <p:sldId id="257" r:id="rId5"/>
    <p:sldId id="265" r:id="rId6"/>
    <p:sldId id="258" r:id="rId7"/>
    <p:sldId id="259" r:id="rId8"/>
    <p:sldId id="260" r:id="rId9"/>
    <p:sldId id="261" r:id="rId10"/>
    <p:sldId id="262" r:id="rId11"/>
    <p:sldId id="263" r:id="rId12"/>
    <p:sldId id="264" r:id="rId13"/>
  </p:sldIdLst>
  <p:sldSz cx="18288000" cy="10287000"/>
  <p:notesSz cx="6858000" cy="9144000"/>
  <p:embeddedFontLst>
    <p:embeddedFont>
      <p:font typeface="Open Sans Bold"/>
      <p:bold r:id="rId17"/>
    </p:embeddedFont>
    <p:embeddedFont>
      <p:font typeface="Bebas Neue Bold" panose="020B0606020202050201"/>
      <p:bold r:id="rId18"/>
    </p:embeddedFont>
    <p:embeddedFont>
      <p:font typeface="Open Sans"/>
      <p:regular r:id="rId19"/>
    </p:embeddedFont>
    <p:embeddedFont>
      <p:font typeface="Changa SemiBold" panose="00000700000000000000"/>
      <p:bold r:id="rId20"/>
    </p:embeddedFont>
    <p:embeddedFont>
      <p:font typeface="Arimo Bold" panose="020B0704020202020204"/>
      <p:bold r:id="rId21"/>
    </p:embeddedFont>
    <p:embeddedFont>
      <p:font typeface="Arimo" panose="020B0604020202020204"/>
      <p:regular r:id="rId22"/>
    </p:embeddedFont>
    <p:embeddedFont>
      <p:font typeface="Calibri" panose="020F050202020403020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font" Target="fonts/font10.fntdata"/><Relationship Id="rId25" Type="http://schemas.openxmlformats.org/officeDocument/2006/relationships/font" Target="fonts/font9.fntdata"/><Relationship Id="rId24" Type="http://schemas.openxmlformats.org/officeDocument/2006/relationships/font" Target="fonts/font8.fntdata"/><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3.svg"/><Relationship Id="rId2" Type="http://schemas.openxmlformats.org/officeDocument/2006/relationships/image" Target="../media/image2.png"/><Relationship Id="rId10" Type="http://schemas.openxmlformats.org/officeDocument/2006/relationships/slideLayout" Target="../slideLayouts/slideLayout7.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0000">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907864" y="6708518"/>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grpSp>
        <p:nvGrpSpPr>
          <p:cNvPr id="3" name="Group 3"/>
          <p:cNvGrpSpPr/>
          <p:nvPr/>
        </p:nvGrpSpPr>
        <p:grpSpPr>
          <a:xfrm rot="0">
            <a:off x="17690482" y="8660782"/>
            <a:ext cx="597518" cy="597518"/>
            <a:chOff x="0" y="0"/>
            <a:chExt cx="812800" cy="812800"/>
          </a:xfrm>
        </p:grpSpPr>
        <p:sp>
          <p:nvSpPr>
            <p:cNvPr id="4" name="Freeform 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FF0000">
                    <a:alpha val="100000"/>
                  </a:srgbClr>
                </a:gs>
                <a:gs pos="100000">
                  <a:srgbClr val="5E0000">
                    <a:alpha val="100000"/>
                  </a:srgbClr>
                </a:gs>
              </a:gsLst>
              <a:lin ang="2700000"/>
            </a:gradFill>
          </p:spPr>
        </p:sp>
        <p:sp>
          <p:nvSpPr>
            <p:cNvPr id="5" name="TextBox 5"/>
            <p:cNvSpPr txBox="1"/>
            <p:nvPr/>
          </p:nvSpPr>
          <p:spPr>
            <a:xfrm>
              <a:off x="0" y="-38100"/>
              <a:ext cx="812800" cy="850900"/>
            </a:xfrm>
            <a:prstGeom prst="rect">
              <a:avLst/>
            </a:prstGeom>
          </p:spPr>
          <p:txBody>
            <a:bodyPr lIns="50800" tIns="50800" rIns="50800" bIns="50800" rtlCol="0" anchor="ctr"/>
            <a:lstStyle/>
            <a:p>
              <a:pPr algn="ctr">
                <a:lnSpc>
                  <a:spcPts val="2660"/>
                </a:lnSpc>
              </a:pPr>
            </a:p>
          </p:txBody>
        </p:sp>
      </p:grpSp>
      <p:sp>
        <p:nvSpPr>
          <p:cNvPr id="6" name="Freeform 6"/>
          <p:cNvSpPr/>
          <p:nvPr/>
        </p:nvSpPr>
        <p:spPr>
          <a:xfrm flipH="1" flipV="1">
            <a:off x="17450371" y="454502"/>
            <a:ext cx="407026" cy="407026"/>
          </a:xfrm>
          <a:custGeom>
            <a:avLst/>
            <a:gdLst/>
            <a:ahLst/>
            <a:cxnLst/>
            <a:rect l="l" t="t" r="r" b="b"/>
            <a:pathLst>
              <a:path w="407026" h="407026">
                <a:moveTo>
                  <a:pt x="407025" y="407026"/>
                </a:moveTo>
                <a:lnTo>
                  <a:pt x="0" y="407026"/>
                </a:lnTo>
                <a:lnTo>
                  <a:pt x="0" y="0"/>
                </a:lnTo>
                <a:lnTo>
                  <a:pt x="407025" y="0"/>
                </a:lnTo>
                <a:lnTo>
                  <a:pt x="407025" y="40702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5202610" y="1202110"/>
            <a:ext cx="7882781" cy="7882781"/>
          </a:xfrm>
          <a:custGeom>
            <a:avLst/>
            <a:gdLst/>
            <a:ahLst/>
            <a:cxnLst/>
            <a:rect l="l" t="t" r="r" b="b"/>
            <a:pathLst>
              <a:path w="7882781" h="7882781">
                <a:moveTo>
                  <a:pt x="0" y="0"/>
                </a:moveTo>
                <a:lnTo>
                  <a:pt x="7882780" y="0"/>
                </a:lnTo>
                <a:lnTo>
                  <a:pt x="7882780" y="7882780"/>
                </a:lnTo>
                <a:lnTo>
                  <a:pt x="0" y="7882780"/>
                </a:lnTo>
                <a:lnTo>
                  <a:pt x="0" y="0"/>
                </a:lnTo>
                <a:close/>
              </a:path>
            </a:pathLst>
          </a:custGeom>
          <a:blipFill>
            <a:blip r:embed="rId1"/>
            <a:stretch>
              <a:fillRect/>
            </a:stretch>
          </a:blipFill>
        </p:spPr>
      </p:sp>
      <p:sp>
        <p:nvSpPr>
          <p:cNvPr id="8" name="TextBox 8"/>
          <p:cNvSpPr txBox="1"/>
          <p:nvPr/>
        </p:nvSpPr>
        <p:spPr>
          <a:xfrm>
            <a:off x="17857396" y="8851031"/>
            <a:ext cx="263689" cy="197971"/>
          </a:xfrm>
          <a:prstGeom prst="rect">
            <a:avLst/>
          </a:prstGeom>
        </p:spPr>
        <p:txBody>
          <a:bodyPr lIns="0" tIns="0" rIns="0" bIns="0" rtlCol="0" anchor="t">
            <a:spAutoFit/>
          </a:bodyPr>
          <a:lstStyle/>
          <a:p>
            <a:pPr algn="ctr">
              <a:lnSpc>
                <a:spcPts val="1680"/>
              </a:lnSpc>
              <a:spcBef>
                <a:spcPct val="0"/>
              </a:spcBef>
            </a:pPr>
            <a:r>
              <a:rPr lang="en-US" sz="1200" b="1">
                <a:solidFill>
                  <a:srgbClr val="FFFFFF"/>
                </a:solidFill>
                <a:latin typeface="Open Sans Bold"/>
                <a:ea typeface="Open Sans Bold"/>
                <a:cs typeface="Open Sans Bold"/>
                <a:sym typeface="Open Sans Bold"/>
              </a:rPr>
              <a:t>01</a:t>
            </a:r>
            <a:endParaRPr lang="en-US" sz="1200" b="1">
              <a:solidFill>
                <a:srgbClr val="FFFFFF"/>
              </a:solidFill>
              <a:latin typeface="Open Sans Bold"/>
              <a:ea typeface="Open Sans Bold"/>
              <a:cs typeface="Open Sans Bold"/>
              <a:sym typeface="Open Sans Bold"/>
            </a:endParaRPr>
          </a:p>
        </p:txBody>
      </p:sp>
      <p:sp>
        <p:nvSpPr>
          <p:cNvPr id="9" name="TextBox 9"/>
          <p:cNvSpPr txBox="1"/>
          <p:nvPr/>
        </p:nvSpPr>
        <p:spPr>
          <a:xfrm>
            <a:off x="2061408" y="2694886"/>
            <a:ext cx="14165185" cy="4386494"/>
          </a:xfrm>
          <a:prstGeom prst="rect">
            <a:avLst/>
          </a:prstGeom>
        </p:spPr>
        <p:txBody>
          <a:bodyPr lIns="0" tIns="0" rIns="0" bIns="0" rtlCol="0" anchor="t">
            <a:spAutoFit/>
          </a:bodyPr>
          <a:lstStyle/>
          <a:p>
            <a:pPr algn="ctr">
              <a:lnSpc>
                <a:spcPts val="35380"/>
              </a:lnSpc>
              <a:spcBef>
                <a:spcPct val="0"/>
              </a:spcBef>
            </a:pPr>
            <a:r>
              <a:rPr lang="en-US" sz="25270" b="1">
                <a:solidFill>
                  <a:srgbClr val="FFFFFF"/>
                </a:solidFill>
                <a:latin typeface="Bebas Neue Bold" panose="020B0606020202050201"/>
                <a:ea typeface="Bebas Neue Bold" panose="020B0606020202050201"/>
                <a:cs typeface="Bebas Neue Bold" panose="020B0606020202050201"/>
                <a:sym typeface="Bebas Neue Bold" panose="020B0606020202050201"/>
              </a:rPr>
              <a:t>RED HAT</a:t>
            </a:r>
            <a:endParaRPr lang="en-US" sz="25270" b="1">
              <a:solidFill>
                <a:srgbClr val="FFFFFF"/>
              </a:solidFill>
              <a:latin typeface="Bebas Neue Bold" panose="020B0606020202050201"/>
              <a:ea typeface="Bebas Neue Bold" panose="020B0606020202050201"/>
              <a:cs typeface="Bebas Neue Bold" panose="020B0606020202050201"/>
              <a:sym typeface="Bebas Neue Bold" panose="020B0606020202050201"/>
            </a:endParaRPr>
          </a:p>
        </p:txBody>
      </p:sp>
      <p:sp>
        <p:nvSpPr>
          <p:cNvPr id="10" name="Freeform 10"/>
          <p:cNvSpPr/>
          <p:nvPr/>
        </p:nvSpPr>
        <p:spPr>
          <a:xfrm rot="-723952">
            <a:off x="4148073" y="1819835"/>
            <a:ext cx="2653926" cy="2375896"/>
          </a:xfrm>
          <a:custGeom>
            <a:avLst/>
            <a:gdLst/>
            <a:ahLst/>
            <a:cxnLst/>
            <a:rect l="l" t="t" r="r" b="b"/>
            <a:pathLst>
              <a:path w="2653926" h="2375896">
                <a:moveTo>
                  <a:pt x="0" y="0"/>
                </a:moveTo>
                <a:lnTo>
                  <a:pt x="2653926" y="0"/>
                </a:lnTo>
                <a:lnTo>
                  <a:pt x="2653926" y="2375896"/>
                </a:lnTo>
                <a:lnTo>
                  <a:pt x="0" y="2375896"/>
                </a:lnTo>
                <a:lnTo>
                  <a:pt x="0" y="0"/>
                </a:lnTo>
                <a:close/>
              </a:path>
            </a:pathLst>
          </a:custGeom>
          <a:blipFill>
            <a:blip r:embed="rId4"/>
            <a:stretch>
              <a:fillRect l="-16791" t="-63524" r="-227699" b="-78901"/>
            </a:stretch>
          </a:blipFill>
        </p:spPr>
      </p:sp>
      <p:sp>
        <p:nvSpPr>
          <p:cNvPr id="11" name="TextBox 11"/>
          <p:cNvSpPr txBox="1"/>
          <p:nvPr/>
        </p:nvSpPr>
        <p:spPr>
          <a:xfrm>
            <a:off x="4173348" y="6061995"/>
            <a:ext cx="9941303" cy="646523"/>
          </a:xfrm>
          <a:prstGeom prst="rect">
            <a:avLst/>
          </a:prstGeom>
        </p:spPr>
        <p:txBody>
          <a:bodyPr lIns="0" tIns="0" rIns="0" bIns="0" rtlCol="0" anchor="t">
            <a:spAutoFit/>
          </a:bodyPr>
          <a:lstStyle/>
          <a:p>
            <a:pPr algn="ctr">
              <a:lnSpc>
                <a:spcPts val="5315"/>
              </a:lnSpc>
              <a:spcBef>
                <a:spcPct val="0"/>
              </a:spcBef>
            </a:pPr>
            <a:r>
              <a:rPr lang="en-US" sz="3795" spc="3037">
                <a:solidFill>
                  <a:srgbClr val="FFFFFF"/>
                </a:solidFill>
                <a:latin typeface="Open Sans"/>
                <a:ea typeface="Open Sans"/>
                <a:cs typeface="Open Sans"/>
                <a:sym typeface="Open Sans"/>
              </a:rPr>
              <a:t>SYSTEM SECURITY</a:t>
            </a:r>
            <a:endParaRPr lang="en-US" sz="3795" spc="3037">
              <a:solidFill>
                <a:srgbClr val="FFFFFF"/>
              </a:solidFill>
              <a:latin typeface="Open Sans"/>
              <a:ea typeface="Open Sans"/>
              <a:cs typeface="Open Sans"/>
              <a:sym typeface="Open Sans"/>
            </a:endParaRPr>
          </a:p>
        </p:txBody>
      </p:sp>
      <p:sp>
        <p:nvSpPr>
          <p:cNvPr id="12" name="TextBox 12"/>
          <p:cNvSpPr txBox="1"/>
          <p:nvPr/>
        </p:nvSpPr>
        <p:spPr>
          <a:xfrm>
            <a:off x="4871224" y="440845"/>
            <a:ext cx="5111081"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Red Hat System Security</a:t>
            </a:r>
            <a:endParaRPr lang="en-US" sz="2125">
              <a:solidFill>
                <a:srgbClr val="FFFFFF"/>
              </a:solidFill>
              <a:latin typeface="Open Sans"/>
              <a:ea typeface="Open Sans"/>
              <a:cs typeface="Open Sans"/>
              <a:sym typeface="Open Sans"/>
            </a:endParaRPr>
          </a:p>
        </p:txBody>
      </p:sp>
      <p:sp>
        <p:nvSpPr>
          <p:cNvPr id="13" name="TextBox 13"/>
          <p:cNvSpPr txBox="1"/>
          <p:nvPr/>
        </p:nvSpPr>
        <p:spPr>
          <a:xfrm>
            <a:off x="10860036" y="440845"/>
            <a:ext cx="2225355"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GTR 1ere Année</a:t>
            </a:r>
            <a:endParaRPr lang="en-US" sz="2125">
              <a:solidFill>
                <a:srgbClr val="FFFFFF"/>
              </a:solidFill>
              <a:latin typeface="Open Sans"/>
              <a:ea typeface="Open Sans"/>
              <a:cs typeface="Open Sans"/>
              <a:sym typeface="Open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0000">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907864" y="6708518"/>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grpSp>
        <p:nvGrpSpPr>
          <p:cNvPr id="3" name="Group 3"/>
          <p:cNvGrpSpPr/>
          <p:nvPr/>
        </p:nvGrpSpPr>
        <p:grpSpPr>
          <a:xfrm rot="0">
            <a:off x="17690482" y="8660782"/>
            <a:ext cx="597518" cy="597518"/>
            <a:chOff x="0" y="0"/>
            <a:chExt cx="812800" cy="812800"/>
          </a:xfrm>
        </p:grpSpPr>
        <p:sp>
          <p:nvSpPr>
            <p:cNvPr id="4" name="Freeform 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FF0000">
                    <a:alpha val="100000"/>
                  </a:srgbClr>
                </a:gs>
                <a:gs pos="100000">
                  <a:srgbClr val="5E0000">
                    <a:alpha val="100000"/>
                  </a:srgbClr>
                </a:gs>
              </a:gsLst>
              <a:lin ang="2700000"/>
            </a:gradFill>
          </p:spPr>
        </p:sp>
        <p:sp>
          <p:nvSpPr>
            <p:cNvPr id="5" name="TextBox 5"/>
            <p:cNvSpPr txBox="1"/>
            <p:nvPr/>
          </p:nvSpPr>
          <p:spPr>
            <a:xfrm>
              <a:off x="0" y="-38100"/>
              <a:ext cx="812800" cy="850900"/>
            </a:xfrm>
            <a:prstGeom prst="rect">
              <a:avLst/>
            </a:prstGeom>
          </p:spPr>
          <p:txBody>
            <a:bodyPr lIns="50800" tIns="50800" rIns="50800" bIns="50800" rtlCol="0" anchor="ctr"/>
            <a:lstStyle/>
            <a:p>
              <a:pPr algn="ctr">
                <a:lnSpc>
                  <a:spcPts val="2660"/>
                </a:lnSpc>
              </a:pPr>
            </a:p>
          </p:txBody>
        </p:sp>
      </p:grpSp>
      <p:sp>
        <p:nvSpPr>
          <p:cNvPr id="6" name="Freeform 6"/>
          <p:cNvSpPr/>
          <p:nvPr/>
        </p:nvSpPr>
        <p:spPr>
          <a:xfrm flipH="1" flipV="1">
            <a:off x="17450371" y="454502"/>
            <a:ext cx="407026" cy="407026"/>
          </a:xfrm>
          <a:custGeom>
            <a:avLst/>
            <a:gdLst/>
            <a:ahLst/>
            <a:cxnLst/>
            <a:rect l="l" t="t" r="r" b="b"/>
            <a:pathLst>
              <a:path w="407026" h="407026">
                <a:moveTo>
                  <a:pt x="407025" y="407026"/>
                </a:moveTo>
                <a:lnTo>
                  <a:pt x="0" y="407026"/>
                </a:lnTo>
                <a:lnTo>
                  <a:pt x="0" y="0"/>
                </a:lnTo>
                <a:lnTo>
                  <a:pt x="407025" y="0"/>
                </a:lnTo>
                <a:lnTo>
                  <a:pt x="407025" y="40702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5202610" y="1202110"/>
            <a:ext cx="7882781" cy="7882781"/>
          </a:xfrm>
          <a:custGeom>
            <a:avLst/>
            <a:gdLst/>
            <a:ahLst/>
            <a:cxnLst/>
            <a:rect l="l" t="t" r="r" b="b"/>
            <a:pathLst>
              <a:path w="7882781" h="7882781">
                <a:moveTo>
                  <a:pt x="0" y="0"/>
                </a:moveTo>
                <a:lnTo>
                  <a:pt x="7882780" y="0"/>
                </a:lnTo>
                <a:lnTo>
                  <a:pt x="7882780" y="7882780"/>
                </a:lnTo>
                <a:lnTo>
                  <a:pt x="0" y="7882780"/>
                </a:lnTo>
                <a:lnTo>
                  <a:pt x="0" y="0"/>
                </a:lnTo>
                <a:close/>
              </a:path>
            </a:pathLst>
          </a:custGeom>
          <a:blipFill>
            <a:blip r:embed="rId1"/>
            <a:stretch>
              <a:fillRect/>
            </a:stretch>
          </a:blipFill>
        </p:spPr>
      </p:sp>
      <p:sp>
        <p:nvSpPr>
          <p:cNvPr id="8" name="TextBox 8"/>
          <p:cNvSpPr txBox="1"/>
          <p:nvPr/>
        </p:nvSpPr>
        <p:spPr>
          <a:xfrm>
            <a:off x="17857396" y="8851031"/>
            <a:ext cx="263689" cy="215265"/>
          </a:xfrm>
          <a:prstGeom prst="rect">
            <a:avLst/>
          </a:prstGeom>
        </p:spPr>
        <p:txBody>
          <a:bodyPr lIns="0" tIns="0" rIns="0" bIns="0" rtlCol="0" anchor="t">
            <a:spAutoFit/>
          </a:bodyPr>
          <a:lstStyle/>
          <a:p>
            <a:pPr algn="ctr">
              <a:lnSpc>
                <a:spcPts val="1680"/>
              </a:lnSpc>
              <a:spcBef>
                <a:spcPct val="0"/>
              </a:spcBef>
            </a:pPr>
            <a:r>
              <a:rPr lang="fr-FR" altLang="en-US" sz="1200" b="1">
                <a:solidFill>
                  <a:srgbClr val="FFFFFF"/>
                </a:solidFill>
                <a:latin typeface="Open Sans Bold"/>
                <a:ea typeface="Open Sans Bold"/>
                <a:cs typeface="Open Sans Bold"/>
                <a:sym typeface="Open Sans Bold"/>
              </a:rPr>
              <a:t>02</a:t>
            </a:r>
            <a:endParaRPr lang="fr-FR" altLang="en-US" sz="1200" b="1">
              <a:solidFill>
                <a:srgbClr val="FFFFFF"/>
              </a:solidFill>
              <a:latin typeface="Open Sans Bold"/>
              <a:ea typeface="Open Sans Bold"/>
              <a:cs typeface="Open Sans Bold"/>
              <a:sym typeface="Open Sans Bold"/>
            </a:endParaRPr>
          </a:p>
        </p:txBody>
      </p:sp>
      <p:sp>
        <p:nvSpPr>
          <p:cNvPr id="9" name="TextBox 9"/>
          <p:cNvSpPr txBox="1"/>
          <p:nvPr/>
        </p:nvSpPr>
        <p:spPr>
          <a:xfrm>
            <a:off x="-2057202" y="-1485319"/>
            <a:ext cx="14165185" cy="4537075"/>
          </a:xfrm>
          <a:prstGeom prst="rect">
            <a:avLst/>
          </a:prstGeom>
        </p:spPr>
        <p:txBody>
          <a:bodyPr lIns="0" tIns="0" rIns="0" bIns="0" rtlCol="0" anchor="t">
            <a:spAutoFit/>
          </a:bodyPr>
          <a:lstStyle/>
          <a:p>
            <a:pPr algn="ctr">
              <a:lnSpc>
                <a:spcPts val="35380"/>
              </a:lnSpc>
              <a:spcBef>
                <a:spcPct val="0"/>
              </a:spcBef>
            </a:pPr>
            <a:r>
              <a:rPr lang="fr-FR" altLang="en-US" sz="8000" b="1">
                <a:solidFill>
                  <a:srgbClr val="FFFFFF"/>
                </a:solidFill>
                <a:latin typeface="Bebas Neue Bold" panose="020B0606020202050201"/>
                <a:ea typeface="Bebas Neue Bold" panose="020B0606020202050201"/>
                <a:cs typeface="Bebas Neue Bold" panose="020B0606020202050201"/>
                <a:sym typeface="Bebas Neue Bold" panose="020B0606020202050201"/>
              </a:rPr>
              <a:t>presentation plan</a:t>
            </a:r>
            <a:endParaRPr lang="fr-FR" altLang="en-US" sz="8000" b="1">
              <a:solidFill>
                <a:srgbClr val="FFFFFF"/>
              </a:solidFill>
              <a:latin typeface="Bebas Neue Bold" panose="020B0606020202050201"/>
              <a:ea typeface="Bebas Neue Bold" panose="020B0606020202050201"/>
              <a:cs typeface="Bebas Neue Bold" panose="020B0606020202050201"/>
              <a:sym typeface="Bebas Neue Bold" panose="020B0606020202050201"/>
            </a:endParaRPr>
          </a:p>
        </p:txBody>
      </p:sp>
      <p:sp>
        <p:nvSpPr>
          <p:cNvPr id="10" name="Freeform 10"/>
          <p:cNvSpPr/>
          <p:nvPr/>
        </p:nvSpPr>
        <p:spPr>
          <a:xfrm rot="-723952">
            <a:off x="403860" y="1306195"/>
            <a:ext cx="1108075" cy="1063625"/>
          </a:xfrm>
          <a:custGeom>
            <a:avLst/>
            <a:gdLst/>
            <a:ahLst/>
            <a:cxnLst/>
            <a:rect l="l" t="t" r="r" b="b"/>
            <a:pathLst>
              <a:path w="2653926" h="2375896">
                <a:moveTo>
                  <a:pt x="0" y="0"/>
                </a:moveTo>
                <a:lnTo>
                  <a:pt x="2653926" y="0"/>
                </a:lnTo>
                <a:lnTo>
                  <a:pt x="2653926" y="2375896"/>
                </a:lnTo>
                <a:lnTo>
                  <a:pt x="0" y="2375896"/>
                </a:lnTo>
                <a:lnTo>
                  <a:pt x="0" y="0"/>
                </a:lnTo>
                <a:close/>
              </a:path>
            </a:pathLst>
          </a:custGeom>
          <a:blipFill>
            <a:blip r:embed="rId4"/>
            <a:stretch>
              <a:fillRect l="-16791" t="-63524" r="-227699" b="-78901"/>
            </a:stretch>
          </a:blipFill>
        </p:spPr>
      </p:sp>
      <p:sp>
        <p:nvSpPr>
          <p:cNvPr id="12" name="TextBox 12"/>
          <p:cNvSpPr txBox="1"/>
          <p:nvPr/>
        </p:nvSpPr>
        <p:spPr>
          <a:xfrm>
            <a:off x="4871224" y="440845"/>
            <a:ext cx="5111081"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Red Hat System Security</a:t>
            </a:r>
            <a:endParaRPr lang="en-US" sz="2125">
              <a:solidFill>
                <a:srgbClr val="FFFFFF"/>
              </a:solidFill>
              <a:latin typeface="Open Sans"/>
              <a:ea typeface="Open Sans"/>
              <a:cs typeface="Open Sans"/>
              <a:sym typeface="Open Sans"/>
            </a:endParaRPr>
          </a:p>
        </p:txBody>
      </p:sp>
      <p:sp>
        <p:nvSpPr>
          <p:cNvPr id="13" name="TextBox 13"/>
          <p:cNvSpPr txBox="1"/>
          <p:nvPr/>
        </p:nvSpPr>
        <p:spPr>
          <a:xfrm>
            <a:off x="10860036" y="440845"/>
            <a:ext cx="2225355"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GTR 1ere Année</a:t>
            </a:r>
            <a:endParaRPr lang="en-US" sz="2125">
              <a:solidFill>
                <a:srgbClr val="FFFFFF"/>
              </a:solidFill>
              <a:latin typeface="Open Sans"/>
              <a:ea typeface="Open Sans"/>
              <a:cs typeface="Open Sans"/>
              <a:sym typeface="Open Sans"/>
            </a:endParaRPr>
          </a:p>
        </p:txBody>
      </p:sp>
      <p:sp>
        <p:nvSpPr>
          <p:cNvPr id="15" name="TextBox 11"/>
          <p:cNvSpPr txBox="1"/>
          <p:nvPr/>
        </p:nvSpPr>
        <p:spPr>
          <a:xfrm>
            <a:off x="1880870" y="1562100"/>
            <a:ext cx="11091545" cy="6062980"/>
          </a:xfrm>
          <a:prstGeom prst="rect">
            <a:avLst/>
          </a:prstGeom>
        </p:spPr>
        <p:txBody>
          <a:bodyPr lIns="0" tIns="0" rIns="0" bIns="0" rtlCol="0" anchor="t">
            <a:noAutofit/>
          </a:bodyPr>
          <a:p>
            <a:pPr algn="l">
              <a:lnSpc>
                <a:spcPts val="20475"/>
              </a:lnSpc>
            </a:pPr>
            <a:r>
              <a:rPr lang="en-US" sz="4200">
                <a:solidFill>
                  <a:srgbClr val="FFFFFF"/>
                </a:solidFill>
                <a:latin typeface="Changa SemiBold" panose="00000700000000000000"/>
                <a:ea typeface="Changa SemiBold" panose="00000700000000000000"/>
                <a:cs typeface="Changa SemiBold" panose="00000700000000000000"/>
                <a:sym typeface="Changa SemiBold" panose="00000700000000000000"/>
              </a:rPr>
              <a:t>FIREWALL</a:t>
            </a:r>
            <a:r>
              <a:rPr lang="fr-FR" altLang="en-US" sz="4200">
                <a:solidFill>
                  <a:srgbClr val="FFFFFF"/>
                </a:solidFill>
                <a:latin typeface="Changa SemiBold" panose="00000700000000000000"/>
                <a:ea typeface="Changa SemiBold" panose="00000700000000000000"/>
                <a:cs typeface="Changa SemiBold" panose="00000700000000000000"/>
                <a:sym typeface="Changa SemiBold" panose="00000700000000000000"/>
              </a:rPr>
              <a:t>d</a:t>
            </a:r>
            <a:endParaRPr lang="fr-FR" altLang="en-US" sz="4200">
              <a:solidFill>
                <a:srgbClr val="FFFFFF"/>
              </a:solidFill>
              <a:latin typeface="Changa SemiBold" panose="00000700000000000000"/>
              <a:ea typeface="Changa SemiBold" panose="00000700000000000000"/>
              <a:cs typeface="Changa SemiBold" panose="00000700000000000000"/>
              <a:sym typeface="Changa SemiBold" panose="00000700000000000000"/>
            </a:endParaRPr>
          </a:p>
          <a:p>
            <a:pPr algn="l">
              <a:lnSpc>
                <a:spcPct val="100000"/>
              </a:lnSpc>
            </a:pPr>
            <a:r>
              <a:rPr lang="en-US" sz="4200">
                <a:solidFill>
                  <a:srgbClr val="FFFFFF"/>
                </a:solidFill>
                <a:latin typeface="Changa SemiBold" panose="00000700000000000000"/>
                <a:ea typeface="Changa SemiBold" panose="00000700000000000000"/>
                <a:cs typeface="Changa SemiBold" panose="00000700000000000000"/>
                <a:sym typeface="Changa SemiBold" panose="00000700000000000000"/>
              </a:rPr>
              <a:t>Securing Services with SELinux</a:t>
            </a:r>
            <a:endParaRPr lang="en-US" sz="4200">
              <a:solidFill>
                <a:srgbClr val="FFFFFF"/>
              </a:solidFill>
              <a:latin typeface="Changa SemiBold" panose="00000700000000000000"/>
              <a:ea typeface="Changa SemiBold" panose="00000700000000000000"/>
              <a:cs typeface="Changa SemiBold" panose="00000700000000000000"/>
              <a:sym typeface="Changa SemiBold" panose="00000700000000000000"/>
            </a:endParaRPr>
          </a:p>
          <a:p>
            <a:pPr algn="l">
              <a:lnSpc>
                <a:spcPct val="100000"/>
              </a:lnSpc>
            </a:pPr>
            <a:endParaRPr lang="en-US" sz="4200">
              <a:solidFill>
                <a:srgbClr val="FFFFFF"/>
              </a:solidFill>
              <a:latin typeface="Changa SemiBold" panose="00000700000000000000"/>
              <a:ea typeface="Changa SemiBold" panose="00000700000000000000"/>
              <a:cs typeface="Changa SemiBold" panose="00000700000000000000"/>
              <a:sym typeface="Changa SemiBold" panose="00000700000000000000"/>
            </a:endParaRPr>
          </a:p>
          <a:p>
            <a:pPr algn="l">
              <a:lnSpc>
                <a:spcPct val="100000"/>
              </a:lnSpc>
            </a:pPr>
            <a:r>
              <a:rPr lang="en-US" sz="4200">
                <a:solidFill>
                  <a:srgbClr val="FFFFFF"/>
                </a:solidFill>
                <a:latin typeface="Changa SemiBold" panose="00000700000000000000"/>
                <a:ea typeface="Changa SemiBold" panose="00000700000000000000"/>
                <a:cs typeface="Changa SemiBold" panose="00000700000000000000"/>
                <a:sym typeface="Changa SemiBold" panose="00000700000000000000"/>
              </a:rPr>
              <a:t>SSH FOR SECURE CONNECTIONS</a:t>
            </a:r>
            <a:endParaRPr lang="en-US" sz="4200">
              <a:solidFill>
                <a:srgbClr val="FFFFFF"/>
              </a:solidFill>
              <a:latin typeface="Changa SemiBold" panose="00000700000000000000"/>
              <a:ea typeface="Changa SemiBold" panose="00000700000000000000"/>
              <a:cs typeface="Changa SemiBold" panose="00000700000000000000"/>
              <a:sym typeface="Changa SemiBold" panose="00000700000000000000"/>
            </a:endParaRPr>
          </a:p>
          <a:p>
            <a:pPr algn="l">
              <a:lnSpc>
                <a:spcPct val="100000"/>
              </a:lnSpc>
            </a:pPr>
            <a:endParaRPr lang="fr-FR" altLang="en-US" sz="4200">
              <a:solidFill>
                <a:srgbClr val="FFFFFF"/>
              </a:solidFill>
              <a:latin typeface="Changa SemiBold" panose="00000700000000000000"/>
              <a:ea typeface="Changa SemiBold" panose="00000700000000000000"/>
              <a:cs typeface="Changa SemiBold" panose="00000700000000000000"/>
              <a:sym typeface="Changa SemiBold" panose="00000700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0000">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3365358" y="-3350441"/>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sp>
        <p:nvSpPr>
          <p:cNvPr id="3" name="Freeform 3"/>
          <p:cNvSpPr/>
          <p:nvPr/>
        </p:nvSpPr>
        <p:spPr>
          <a:xfrm>
            <a:off x="-1907864" y="6708518"/>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grpSp>
        <p:nvGrpSpPr>
          <p:cNvPr id="4" name="Group 4"/>
          <p:cNvGrpSpPr/>
          <p:nvPr/>
        </p:nvGrpSpPr>
        <p:grpSpPr>
          <a:xfrm rot="0">
            <a:off x="17690482" y="8660782"/>
            <a:ext cx="597518" cy="597518"/>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FF0000">
                    <a:alpha val="100000"/>
                  </a:srgbClr>
                </a:gs>
                <a:gs pos="100000">
                  <a:srgbClr val="5E0000">
                    <a:alpha val="100000"/>
                  </a:srgbClr>
                </a:gs>
              </a:gsLst>
              <a:lin ang="2700000"/>
            </a:gradFill>
          </p:spPr>
        </p:sp>
        <p:sp>
          <p:nvSpPr>
            <p:cNvPr id="6" name="TextBox 6"/>
            <p:cNvSpPr txBox="1"/>
            <p:nvPr/>
          </p:nvSpPr>
          <p:spPr>
            <a:xfrm>
              <a:off x="0" y="-38100"/>
              <a:ext cx="812800" cy="850900"/>
            </a:xfrm>
            <a:prstGeom prst="rect">
              <a:avLst/>
            </a:prstGeom>
          </p:spPr>
          <p:txBody>
            <a:bodyPr lIns="50800" tIns="50800" rIns="50800" bIns="50800" rtlCol="0" anchor="ctr"/>
            <a:lstStyle/>
            <a:p>
              <a:pPr algn="ctr">
                <a:lnSpc>
                  <a:spcPts val="2660"/>
                </a:lnSpc>
              </a:pPr>
            </a:p>
          </p:txBody>
        </p:sp>
      </p:grpSp>
      <p:sp>
        <p:nvSpPr>
          <p:cNvPr id="7" name="Freeform 7"/>
          <p:cNvSpPr/>
          <p:nvPr/>
        </p:nvSpPr>
        <p:spPr>
          <a:xfrm flipH="1" flipV="1">
            <a:off x="17450371" y="454502"/>
            <a:ext cx="407026" cy="407026"/>
          </a:xfrm>
          <a:custGeom>
            <a:avLst/>
            <a:gdLst/>
            <a:ahLst/>
            <a:cxnLst/>
            <a:rect l="l" t="t" r="r" b="b"/>
            <a:pathLst>
              <a:path w="407026" h="407026">
                <a:moveTo>
                  <a:pt x="407025" y="407026"/>
                </a:moveTo>
                <a:lnTo>
                  <a:pt x="0" y="407026"/>
                </a:lnTo>
                <a:lnTo>
                  <a:pt x="0" y="0"/>
                </a:lnTo>
                <a:lnTo>
                  <a:pt x="407025" y="0"/>
                </a:lnTo>
                <a:lnTo>
                  <a:pt x="407025" y="40702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5202610" y="1202110"/>
            <a:ext cx="7882781" cy="7882781"/>
          </a:xfrm>
          <a:custGeom>
            <a:avLst/>
            <a:gdLst/>
            <a:ahLst/>
            <a:cxnLst/>
            <a:rect l="l" t="t" r="r" b="b"/>
            <a:pathLst>
              <a:path w="7882781" h="7882781">
                <a:moveTo>
                  <a:pt x="0" y="0"/>
                </a:moveTo>
                <a:lnTo>
                  <a:pt x="7882780" y="0"/>
                </a:lnTo>
                <a:lnTo>
                  <a:pt x="7882780" y="7882780"/>
                </a:lnTo>
                <a:lnTo>
                  <a:pt x="0" y="7882780"/>
                </a:lnTo>
                <a:lnTo>
                  <a:pt x="0" y="0"/>
                </a:lnTo>
                <a:close/>
              </a:path>
            </a:pathLst>
          </a:custGeom>
          <a:blipFill>
            <a:blip r:embed="rId1"/>
            <a:stretch>
              <a:fillRect/>
            </a:stretch>
          </a:blipFill>
        </p:spPr>
      </p:sp>
      <p:sp>
        <p:nvSpPr>
          <p:cNvPr id="9" name="TextBox 9"/>
          <p:cNvSpPr txBox="1"/>
          <p:nvPr/>
        </p:nvSpPr>
        <p:spPr>
          <a:xfrm>
            <a:off x="17857396" y="8851031"/>
            <a:ext cx="263689" cy="215265"/>
          </a:xfrm>
          <a:prstGeom prst="rect">
            <a:avLst/>
          </a:prstGeom>
        </p:spPr>
        <p:txBody>
          <a:bodyPr lIns="0" tIns="0" rIns="0" bIns="0" rtlCol="0" anchor="t">
            <a:spAutoFit/>
          </a:bodyPr>
          <a:lstStyle/>
          <a:p>
            <a:pPr algn="ctr">
              <a:lnSpc>
                <a:spcPts val="1680"/>
              </a:lnSpc>
              <a:spcBef>
                <a:spcPct val="0"/>
              </a:spcBef>
            </a:pPr>
            <a:r>
              <a:rPr lang="en-US" sz="1200" b="1">
                <a:solidFill>
                  <a:srgbClr val="FFFFFF"/>
                </a:solidFill>
                <a:latin typeface="Open Sans Bold"/>
                <a:ea typeface="Open Sans Bold"/>
                <a:cs typeface="Open Sans Bold"/>
                <a:sym typeface="Open Sans Bold"/>
              </a:rPr>
              <a:t>0</a:t>
            </a:r>
            <a:r>
              <a:rPr lang="fr-FR" altLang="en-US" sz="1200" b="1">
                <a:solidFill>
                  <a:srgbClr val="FFFFFF"/>
                </a:solidFill>
                <a:latin typeface="Open Sans Bold"/>
                <a:ea typeface="Open Sans Bold"/>
                <a:cs typeface="Open Sans Bold"/>
                <a:sym typeface="Open Sans Bold"/>
              </a:rPr>
              <a:t>3</a:t>
            </a:r>
            <a:endParaRPr lang="fr-FR" altLang="en-US" sz="1200" b="1">
              <a:solidFill>
                <a:srgbClr val="FFFFFF"/>
              </a:solidFill>
              <a:latin typeface="Open Sans Bold"/>
              <a:ea typeface="Open Sans Bold"/>
              <a:cs typeface="Open Sans Bold"/>
              <a:sym typeface="Open Sans Bold"/>
            </a:endParaRPr>
          </a:p>
        </p:txBody>
      </p:sp>
      <p:sp>
        <p:nvSpPr>
          <p:cNvPr id="10" name="TextBox 10"/>
          <p:cNvSpPr txBox="1"/>
          <p:nvPr/>
        </p:nvSpPr>
        <p:spPr>
          <a:xfrm>
            <a:off x="249053" y="9542090"/>
            <a:ext cx="10000094" cy="589280"/>
          </a:xfrm>
          <a:prstGeom prst="rect">
            <a:avLst/>
          </a:prstGeom>
        </p:spPr>
        <p:txBody>
          <a:bodyPr lIns="0" tIns="0" rIns="0" bIns="0" rtlCol="0" anchor="t">
            <a:spAutoFit/>
          </a:bodyPr>
          <a:lstStyle/>
          <a:p>
            <a:pPr algn="l">
              <a:lnSpc>
                <a:spcPts val="4360"/>
              </a:lnSpc>
            </a:pPr>
            <a:r>
              <a:rPr lang="en-US" sz="4000" b="1">
                <a:solidFill>
                  <a:srgbClr val="FFFFFF"/>
                </a:solidFill>
                <a:latin typeface="Bebas Neue Bold" panose="020B0606020202050201"/>
                <a:ea typeface="Bebas Neue Bold" panose="020B0606020202050201"/>
                <a:cs typeface="Bebas Neue Bold" panose="020B0606020202050201"/>
                <a:sym typeface="Bebas Neue Bold" panose="020B0606020202050201"/>
              </a:rPr>
              <a:t>PRESENTED BY : OTHMANE EL MQIDDEM</a:t>
            </a:r>
            <a:endParaRPr lang="en-US" sz="4000" b="1">
              <a:solidFill>
                <a:srgbClr val="FFFFFF"/>
              </a:solidFill>
              <a:latin typeface="Bebas Neue Bold" panose="020B0606020202050201"/>
              <a:ea typeface="Bebas Neue Bold" panose="020B0606020202050201"/>
              <a:cs typeface="Bebas Neue Bold" panose="020B0606020202050201"/>
              <a:sym typeface="Bebas Neue Bold" panose="020B0606020202050201"/>
            </a:endParaRPr>
          </a:p>
        </p:txBody>
      </p:sp>
      <p:sp>
        <p:nvSpPr>
          <p:cNvPr id="11" name="TextBox 11"/>
          <p:cNvSpPr txBox="1"/>
          <p:nvPr/>
        </p:nvSpPr>
        <p:spPr>
          <a:xfrm>
            <a:off x="3869773" y="3852133"/>
            <a:ext cx="10548453" cy="2582734"/>
          </a:xfrm>
          <a:prstGeom prst="rect">
            <a:avLst/>
          </a:prstGeom>
        </p:spPr>
        <p:txBody>
          <a:bodyPr lIns="0" tIns="0" rIns="0" bIns="0" rtlCol="0" anchor="t">
            <a:spAutoFit/>
          </a:bodyPr>
          <a:lstStyle/>
          <a:p>
            <a:pPr algn="ctr">
              <a:lnSpc>
                <a:spcPts val="20475"/>
              </a:lnSpc>
            </a:pPr>
            <a:r>
              <a:rPr lang="en-US" sz="17065">
                <a:solidFill>
                  <a:srgbClr val="FFFFFF"/>
                </a:solidFill>
                <a:latin typeface="Changa SemiBold" panose="00000700000000000000"/>
                <a:ea typeface="Changa SemiBold" panose="00000700000000000000"/>
                <a:cs typeface="Changa SemiBold" panose="00000700000000000000"/>
                <a:sym typeface="Changa SemiBold" panose="00000700000000000000"/>
              </a:rPr>
              <a:t>FIREWALLD</a:t>
            </a:r>
            <a:endParaRPr lang="en-US" sz="17065">
              <a:solidFill>
                <a:srgbClr val="FFFFFF"/>
              </a:solidFill>
              <a:latin typeface="Changa SemiBold" panose="00000700000000000000"/>
              <a:ea typeface="Changa SemiBold" panose="00000700000000000000"/>
              <a:cs typeface="Changa SemiBold" panose="00000700000000000000"/>
              <a:sym typeface="Changa SemiBold" panose="00000700000000000000"/>
            </a:endParaRPr>
          </a:p>
        </p:txBody>
      </p:sp>
      <p:sp>
        <p:nvSpPr>
          <p:cNvPr id="12" name="TextBox 12"/>
          <p:cNvSpPr txBox="1"/>
          <p:nvPr/>
        </p:nvSpPr>
        <p:spPr>
          <a:xfrm>
            <a:off x="4871224" y="440845"/>
            <a:ext cx="5111081"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Red Hat System Security</a:t>
            </a:r>
            <a:endParaRPr lang="en-US" sz="2125">
              <a:solidFill>
                <a:srgbClr val="FFFFFF"/>
              </a:solidFill>
              <a:latin typeface="Open Sans"/>
              <a:ea typeface="Open Sans"/>
              <a:cs typeface="Open Sans"/>
              <a:sym typeface="Open Sans"/>
            </a:endParaRPr>
          </a:p>
        </p:txBody>
      </p:sp>
      <p:sp>
        <p:nvSpPr>
          <p:cNvPr id="13" name="TextBox 13"/>
          <p:cNvSpPr txBox="1"/>
          <p:nvPr/>
        </p:nvSpPr>
        <p:spPr>
          <a:xfrm>
            <a:off x="10860036" y="440845"/>
            <a:ext cx="2225355"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GTR 1ere Année</a:t>
            </a:r>
            <a:endParaRPr lang="en-US" sz="2125">
              <a:solidFill>
                <a:srgbClr val="FFFFFF"/>
              </a:solidFill>
              <a:latin typeface="Open Sans"/>
              <a:ea typeface="Open Sans"/>
              <a:cs typeface="Open Sans"/>
              <a:sym typeface="Open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0000">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3365358" y="-3350441"/>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sp>
        <p:nvSpPr>
          <p:cNvPr id="3" name="Freeform 3"/>
          <p:cNvSpPr/>
          <p:nvPr/>
        </p:nvSpPr>
        <p:spPr>
          <a:xfrm>
            <a:off x="-1907864" y="6708518"/>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grpSp>
        <p:nvGrpSpPr>
          <p:cNvPr id="4" name="Group 4"/>
          <p:cNvGrpSpPr/>
          <p:nvPr/>
        </p:nvGrpSpPr>
        <p:grpSpPr>
          <a:xfrm rot="0">
            <a:off x="17690482" y="8660782"/>
            <a:ext cx="597518" cy="597518"/>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FF0000">
                    <a:alpha val="100000"/>
                  </a:srgbClr>
                </a:gs>
                <a:gs pos="100000">
                  <a:srgbClr val="5E0000">
                    <a:alpha val="100000"/>
                  </a:srgbClr>
                </a:gs>
              </a:gsLst>
              <a:lin ang="2700000"/>
            </a:gradFill>
          </p:spPr>
        </p:sp>
        <p:sp>
          <p:nvSpPr>
            <p:cNvPr id="6" name="TextBox 6"/>
            <p:cNvSpPr txBox="1"/>
            <p:nvPr/>
          </p:nvSpPr>
          <p:spPr>
            <a:xfrm>
              <a:off x="0" y="-38100"/>
              <a:ext cx="812800" cy="850900"/>
            </a:xfrm>
            <a:prstGeom prst="rect">
              <a:avLst/>
            </a:prstGeom>
          </p:spPr>
          <p:txBody>
            <a:bodyPr lIns="50800" tIns="50800" rIns="50800" bIns="50800" rtlCol="0" anchor="ctr"/>
            <a:lstStyle/>
            <a:p>
              <a:pPr algn="ctr">
                <a:lnSpc>
                  <a:spcPts val="2660"/>
                </a:lnSpc>
              </a:pPr>
            </a:p>
          </p:txBody>
        </p:sp>
      </p:grpSp>
      <p:sp>
        <p:nvSpPr>
          <p:cNvPr id="7" name="Freeform 7"/>
          <p:cNvSpPr/>
          <p:nvPr/>
        </p:nvSpPr>
        <p:spPr>
          <a:xfrm flipH="1" flipV="1">
            <a:off x="17450371" y="454502"/>
            <a:ext cx="407026" cy="407026"/>
          </a:xfrm>
          <a:custGeom>
            <a:avLst/>
            <a:gdLst/>
            <a:ahLst/>
            <a:cxnLst/>
            <a:rect l="l" t="t" r="r" b="b"/>
            <a:pathLst>
              <a:path w="407026" h="407026">
                <a:moveTo>
                  <a:pt x="407025" y="407026"/>
                </a:moveTo>
                <a:lnTo>
                  <a:pt x="0" y="407026"/>
                </a:lnTo>
                <a:lnTo>
                  <a:pt x="0" y="0"/>
                </a:lnTo>
                <a:lnTo>
                  <a:pt x="407025" y="0"/>
                </a:lnTo>
                <a:lnTo>
                  <a:pt x="407025" y="40702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5202610" y="1202110"/>
            <a:ext cx="7882781" cy="7882781"/>
          </a:xfrm>
          <a:custGeom>
            <a:avLst/>
            <a:gdLst/>
            <a:ahLst/>
            <a:cxnLst/>
            <a:rect l="l" t="t" r="r" b="b"/>
            <a:pathLst>
              <a:path w="7882781" h="7882781">
                <a:moveTo>
                  <a:pt x="0" y="0"/>
                </a:moveTo>
                <a:lnTo>
                  <a:pt x="7882780" y="0"/>
                </a:lnTo>
                <a:lnTo>
                  <a:pt x="7882780" y="7882780"/>
                </a:lnTo>
                <a:lnTo>
                  <a:pt x="0" y="7882780"/>
                </a:lnTo>
                <a:lnTo>
                  <a:pt x="0" y="0"/>
                </a:lnTo>
                <a:close/>
              </a:path>
            </a:pathLst>
          </a:custGeom>
          <a:blipFill>
            <a:blip r:embed="rId1"/>
            <a:stretch>
              <a:fillRect/>
            </a:stretch>
          </a:blipFill>
        </p:spPr>
      </p:sp>
      <p:sp>
        <p:nvSpPr>
          <p:cNvPr id="9" name="TextBox 9"/>
          <p:cNvSpPr txBox="1"/>
          <p:nvPr/>
        </p:nvSpPr>
        <p:spPr>
          <a:xfrm>
            <a:off x="17857396" y="8851031"/>
            <a:ext cx="263689" cy="215265"/>
          </a:xfrm>
          <a:prstGeom prst="rect">
            <a:avLst/>
          </a:prstGeom>
        </p:spPr>
        <p:txBody>
          <a:bodyPr lIns="0" tIns="0" rIns="0" bIns="0" rtlCol="0" anchor="t">
            <a:spAutoFit/>
          </a:bodyPr>
          <a:lstStyle/>
          <a:p>
            <a:pPr algn="ctr">
              <a:lnSpc>
                <a:spcPts val="1680"/>
              </a:lnSpc>
              <a:spcBef>
                <a:spcPct val="0"/>
              </a:spcBef>
            </a:pPr>
            <a:r>
              <a:rPr lang="en-US" sz="1200" b="1">
                <a:solidFill>
                  <a:srgbClr val="FFFFFF"/>
                </a:solidFill>
                <a:latin typeface="Open Sans Bold"/>
                <a:ea typeface="Open Sans Bold"/>
                <a:cs typeface="Open Sans Bold"/>
                <a:sym typeface="Open Sans Bold"/>
              </a:rPr>
              <a:t>0</a:t>
            </a:r>
            <a:r>
              <a:rPr lang="fr-FR" altLang="en-US" sz="1200" b="1">
                <a:solidFill>
                  <a:srgbClr val="FFFFFF"/>
                </a:solidFill>
                <a:latin typeface="Open Sans Bold"/>
                <a:ea typeface="Open Sans Bold"/>
                <a:cs typeface="Open Sans Bold"/>
                <a:sym typeface="Open Sans Bold"/>
              </a:rPr>
              <a:t>4</a:t>
            </a:r>
            <a:endParaRPr lang="fr-FR" altLang="en-US" sz="1200" b="1">
              <a:solidFill>
                <a:srgbClr val="FFFFFF"/>
              </a:solidFill>
              <a:latin typeface="Open Sans Bold"/>
              <a:ea typeface="Open Sans Bold"/>
              <a:cs typeface="Open Sans Bold"/>
              <a:sym typeface="Open Sans Bold"/>
            </a:endParaRPr>
          </a:p>
        </p:txBody>
      </p:sp>
      <p:sp>
        <p:nvSpPr>
          <p:cNvPr id="11" name="TextBox 11"/>
          <p:cNvSpPr txBox="1"/>
          <p:nvPr/>
        </p:nvSpPr>
        <p:spPr>
          <a:xfrm>
            <a:off x="304800" y="190500"/>
            <a:ext cx="5434330" cy="1259840"/>
          </a:xfrm>
          <a:prstGeom prst="rect">
            <a:avLst/>
          </a:prstGeom>
        </p:spPr>
        <p:txBody>
          <a:bodyPr lIns="0" tIns="0" rIns="0" bIns="0" rtlCol="0" anchor="t">
            <a:noAutofit/>
          </a:bodyPr>
          <a:lstStyle/>
          <a:p>
            <a:pPr algn="ctr">
              <a:lnSpc>
                <a:spcPts val="20475"/>
              </a:lnSpc>
            </a:pPr>
            <a:r>
              <a:rPr lang="en-US" sz="4200">
                <a:solidFill>
                  <a:srgbClr val="FFFFFF"/>
                </a:solidFill>
                <a:latin typeface="Changa SemiBold" panose="00000700000000000000"/>
                <a:ea typeface="Changa SemiBold" panose="00000700000000000000"/>
                <a:cs typeface="Changa SemiBold" panose="00000700000000000000"/>
                <a:sym typeface="Changa SemiBold" panose="00000700000000000000"/>
              </a:rPr>
              <a:t>FIREWALL</a:t>
            </a:r>
            <a:endParaRPr lang="en-US" sz="4200">
              <a:solidFill>
                <a:srgbClr val="FFFFFF"/>
              </a:solidFill>
              <a:latin typeface="Changa SemiBold" panose="00000700000000000000"/>
              <a:ea typeface="Changa SemiBold" panose="00000700000000000000"/>
              <a:cs typeface="Changa SemiBold" panose="00000700000000000000"/>
              <a:sym typeface="Changa SemiBold" panose="00000700000000000000"/>
            </a:endParaRPr>
          </a:p>
        </p:txBody>
      </p:sp>
      <p:sp>
        <p:nvSpPr>
          <p:cNvPr id="12" name="TextBox 12"/>
          <p:cNvSpPr txBox="1"/>
          <p:nvPr/>
        </p:nvSpPr>
        <p:spPr>
          <a:xfrm>
            <a:off x="4871224" y="440845"/>
            <a:ext cx="5111081"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Red Hat System Security</a:t>
            </a:r>
            <a:endParaRPr lang="en-US" sz="2125">
              <a:solidFill>
                <a:srgbClr val="FFFFFF"/>
              </a:solidFill>
              <a:latin typeface="Open Sans"/>
              <a:ea typeface="Open Sans"/>
              <a:cs typeface="Open Sans"/>
              <a:sym typeface="Open Sans"/>
            </a:endParaRPr>
          </a:p>
        </p:txBody>
      </p:sp>
      <p:sp>
        <p:nvSpPr>
          <p:cNvPr id="13" name="TextBox 13"/>
          <p:cNvSpPr txBox="1"/>
          <p:nvPr/>
        </p:nvSpPr>
        <p:spPr>
          <a:xfrm>
            <a:off x="10860036" y="440845"/>
            <a:ext cx="2225355"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GTR 1ere Année</a:t>
            </a:r>
            <a:endParaRPr lang="en-US" sz="2125">
              <a:solidFill>
                <a:srgbClr val="FFFFFF"/>
              </a:solidFill>
              <a:latin typeface="Open Sans"/>
              <a:ea typeface="Open Sans"/>
              <a:cs typeface="Open Sans"/>
              <a:sym typeface="Open Sans"/>
            </a:endParaRPr>
          </a:p>
        </p:txBody>
      </p:sp>
      <p:sp>
        <p:nvSpPr>
          <p:cNvPr id="14" name="TextBox 11"/>
          <p:cNvSpPr txBox="1"/>
          <p:nvPr/>
        </p:nvSpPr>
        <p:spPr>
          <a:xfrm>
            <a:off x="279400" y="4152900"/>
            <a:ext cx="5434330" cy="1259840"/>
          </a:xfrm>
          <a:prstGeom prst="rect">
            <a:avLst/>
          </a:prstGeom>
        </p:spPr>
        <p:txBody>
          <a:bodyPr lIns="0" tIns="0" rIns="0" bIns="0" rtlCol="0" anchor="t">
            <a:noAutofit/>
          </a:bodyPr>
          <a:p>
            <a:pPr algn="ctr">
              <a:lnSpc>
                <a:spcPts val="20475"/>
              </a:lnSpc>
            </a:pPr>
            <a:r>
              <a:rPr lang="en-US" sz="4200">
                <a:solidFill>
                  <a:srgbClr val="FFFFFF"/>
                </a:solidFill>
                <a:latin typeface="Changa SemiBold" panose="00000700000000000000"/>
                <a:ea typeface="Changa SemiBold" panose="00000700000000000000"/>
                <a:cs typeface="Changa SemiBold" panose="00000700000000000000"/>
                <a:sym typeface="Changa SemiBold" panose="00000700000000000000"/>
              </a:rPr>
              <a:t>FIREWALL</a:t>
            </a:r>
            <a:r>
              <a:rPr lang="fr-FR" altLang="en-US" sz="4200">
                <a:solidFill>
                  <a:srgbClr val="FFFFFF"/>
                </a:solidFill>
                <a:latin typeface="Changa SemiBold" panose="00000700000000000000"/>
                <a:ea typeface="Changa SemiBold" panose="00000700000000000000"/>
                <a:cs typeface="Changa SemiBold" panose="00000700000000000000"/>
                <a:sym typeface="Changa SemiBold" panose="00000700000000000000"/>
              </a:rPr>
              <a:t>d</a:t>
            </a:r>
            <a:endParaRPr lang="fr-FR" altLang="en-US" sz="4200">
              <a:solidFill>
                <a:srgbClr val="FFFFFF"/>
              </a:solidFill>
              <a:latin typeface="Changa SemiBold" panose="00000700000000000000"/>
              <a:ea typeface="Changa SemiBold" panose="00000700000000000000"/>
              <a:cs typeface="Changa SemiBold" panose="00000700000000000000"/>
              <a:sym typeface="Changa SemiBold" panose="00000700000000000000"/>
            </a:endParaRPr>
          </a:p>
        </p:txBody>
      </p:sp>
      <p:grpSp>
        <p:nvGrpSpPr>
          <p:cNvPr id="15" name="Group 9"/>
          <p:cNvGrpSpPr/>
          <p:nvPr/>
        </p:nvGrpSpPr>
        <p:grpSpPr>
          <a:xfrm rot="0">
            <a:off x="202565" y="2698750"/>
            <a:ext cx="17216120" cy="2931160"/>
            <a:chOff x="0" y="0"/>
            <a:chExt cx="4719282" cy="406728"/>
          </a:xfrm>
        </p:grpSpPr>
        <p:sp>
          <p:nvSpPr>
            <p:cNvPr id="16" name="Freeform 10"/>
            <p:cNvSpPr/>
            <p:nvPr/>
          </p:nvSpPr>
          <p:spPr>
            <a:xfrm>
              <a:off x="0" y="0"/>
              <a:ext cx="4719282" cy="406728"/>
            </a:xfrm>
            <a:custGeom>
              <a:avLst/>
              <a:gdLst/>
              <a:ahLst/>
              <a:cxnLst/>
              <a:rect l="l" t="t" r="r" b="b"/>
              <a:pathLst>
                <a:path w="4719282" h="406728">
                  <a:moveTo>
                    <a:pt x="13394" y="0"/>
                  </a:moveTo>
                  <a:lnTo>
                    <a:pt x="4705888" y="0"/>
                  </a:lnTo>
                  <a:cubicBezTo>
                    <a:pt x="4713285" y="0"/>
                    <a:pt x="4719282" y="5997"/>
                    <a:pt x="4719282" y="13394"/>
                  </a:cubicBezTo>
                  <a:lnTo>
                    <a:pt x="4719282" y="393334"/>
                  </a:lnTo>
                  <a:cubicBezTo>
                    <a:pt x="4719282" y="396886"/>
                    <a:pt x="4717871" y="400293"/>
                    <a:pt x="4715359" y="402805"/>
                  </a:cubicBezTo>
                  <a:cubicBezTo>
                    <a:pt x="4712847" y="405317"/>
                    <a:pt x="4709440" y="406728"/>
                    <a:pt x="4705888" y="406728"/>
                  </a:cubicBezTo>
                  <a:lnTo>
                    <a:pt x="13394" y="406728"/>
                  </a:lnTo>
                  <a:cubicBezTo>
                    <a:pt x="9842" y="406728"/>
                    <a:pt x="6435" y="405317"/>
                    <a:pt x="3923" y="402805"/>
                  </a:cubicBezTo>
                  <a:cubicBezTo>
                    <a:pt x="1411" y="400293"/>
                    <a:pt x="0" y="396886"/>
                    <a:pt x="0" y="393334"/>
                  </a:cubicBezTo>
                  <a:lnTo>
                    <a:pt x="0" y="13394"/>
                  </a:lnTo>
                  <a:cubicBezTo>
                    <a:pt x="0" y="9842"/>
                    <a:pt x="1411" y="6435"/>
                    <a:pt x="3923" y="3923"/>
                  </a:cubicBezTo>
                  <a:cubicBezTo>
                    <a:pt x="6435" y="1411"/>
                    <a:pt x="9842" y="0"/>
                    <a:pt x="13394" y="0"/>
                  </a:cubicBezTo>
                  <a:close/>
                </a:path>
              </a:pathLst>
            </a:custGeom>
            <a:gradFill rotWithShape="1">
              <a:gsLst>
                <a:gs pos="0">
                  <a:srgbClr val="F83308">
                    <a:alpha val="100000"/>
                  </a:srgbClr>
                </a:gs>
                <a:gs pos="100000">
                  <a:srgbClr val="480B00">
                    <a:alpha val="100000"/>
                  </a:srgbClr>
                </a:gs>
              </a:gsLst>
              <a:path path="circle">
                <a:fillToRect l="50000" t="50000" r="50000" b="50000"/>
              </a:path>
            </a:gradFill>
          </p:spPr>
        </p:sp>
        <p:sp>
          <p:nvSpPr>
            <p:cNvPr id="17" name="TextBox 11"/>
            <p:cNvSpPr txBox="1"/>
            <p:nvPr/>
          </p:nvSpPr>
          <p:spPr>
            <a:xfrm>
              <a:off x="0" y="-38100"/>
              <a:ext cx="4719282" cy="444828"/>
            </a:xfrm>
            <a:prstGeom prst="rect">
              <a:avLst/>
            </a:prstGeom>
          </p:spPr>
          <p:txBody>
            <a:bodyPr lIns="50800" tIns="50800" rIns="50800" bIns="50800" rtlCol="0" anchor="ctr"/>
            <a:p>
              <a:pPr algn="ctr">
                <a:lnSpc>
                  <a:spcPts val="2660"/>
                </a:lnSpc>
              </a:pPr>
            </a:p>
          </p:txBody>
        </p:sp>
      </p:grpSp>
      <p:grpSp>
        <p:nvGrpSpPr>
          <p:cNvPr id="18" name="Group 9"/>
          <p:cNvGrpSpPr/>
          <p:nvPr/>
        </p:nvGrpSpPr>
        <p:grpSpPr>
          <a:xfrm rot="0">
            <a:off x="279400" y="6659880"/>
            <a:ext cx="17216120" cy="3188970"/>
            <a:chOff x="0" y="0"/>
            <a:chExt cx="4719282" cy="406728"/>
          </a:xfrm>
        </p:grpSpPr>
        <p:sp>
          <p:nvSpPr>
            <p:cNvPr id="19" name="Freeform 10"/>
            <p:cNvSpPr/>
            <p:nvPr/>
          </p:nvSpPr>
          <p:spPr>
            <a:xfrm>
              <a:off x="0" y="0"/>
              <a:ext cx="4719282" cy="406728"/>
            </a:xfrm>
            <a:custGeom>
              <a:avLst/>
              <a:gdLst/>
              <a:ahLst/>
              <a:cxnLst/>
              <a:rect l="l" t="t" r="r" b="b"/>
              <a:pathLst>
                <a:path w="4719282" h="406728">
                  <a:moveTo>
                    <a:pt x="13394" y="0"/>
                  </a:moveTo>
                  <a:lnTo>
                    <a:pt x="4705888" y="0"/>
                  </a:lnTo>
                  <a:cubicBezTo>
                    <a:pt x="4713285" y="0"/>
                    <a:pt x="4719282" y="5997"/>
                    <a:pt x="4719282" y="13394"/>
                  </a:cubicBezTo>
                  <a:lnTo>
                    <a:pt x="4719282" y="393334"/>
                  </a:lnTo>
                  <a:cubicBezTo>
                    <a:pt x="4719282" y="396886"/>
                    <a:pt x="4717871" y="400293"/>
                    <a:pt x="4715359" y="402805"/>
                  </a:cubicBezTo>
                  <a:cubicBezTo>
                    <a:pt x="4712847" y="405317"/>
                    <a:pt x="4709440" y="406728"/>
                    <a:pt x="4705888" y="406728"/>
                  </a:cubicBezTo>
                  <a:lnTo>
                    <a:pt x="13394" y="406728"/>
                  </a:lnTo>
                  <a:cubicBezTo>
                    <a:pt x="9842" y="406728"/>
                    <a:pt x="6435" y="405317"/>
                    <a:pt x="3923" y="402805"/>
                  </a:cubicBezTo>
                  <a:cubicBezTo>
                    <a:pt x="1411" y="400293"/>
                    <a:pt x="0" y="396886"/>
                    <a:pt x="0" y="393334"/>
                  </a:cubicBezTo>
                  <a:lnTo>
                    <a:pt x="0" y="13394"/>
                  </a:lnTo>
                  <a:cubicBezTo>
                    <a:pt x="0" y="9842"/>
                    <a:pt x="1411" y="6435"/>
                    <a:pt x="3923" y="3923"/>
                  </a:cubicBezTo>
                  <a:cubicBezTo>
                    <a:pt x="6435" y="1411"/>
                    <a:pt x="9842" y="0"/>
                    <a:pt x="13394" y="0"/>
                  </a:cubicBezTo>
                  <a:close/>
                </a:path>
              </a:pathLst>
            </a:custGeom>
            <a:gradFill rotWithShape="1">
              <a:gsLst>
                <a:gs pos="0">
                  <a:srgbClr val="F83308">
                    <a:alpha val="100000"/>
                  </a:srgbClr>
                </a:gs>
                <a:gs pos="100000">
                  <a:srgbClr val="480B00">
                    <a:alpha val="100000"/>
                  </a:srgbClr>
                </a:gs>
              </a:gsLst>
              <a:path path="circle">
                <a:fillToRect l="50000" t="50000" r="50000" b="50000"/>
              </a:path>
            </a:gradFill>
          </p:spPr>
        </p:sp>
        <p:sp>
          <p:nvSpPr>
            <p:cNvPr id="20" name="TextBox 11"/>
            <p:cNvSpPr txBox="1"/>
            <p:nvPr/>
          </p:nvSpPr>
          <p:spPr>
            <a:xfrm>
              <a:off x="0" y="-38100"/>
              <a:ext cx="4719282" cy="444828"/>
            </a:xfrm>
            <a:prstGeom prst="rect">
              <a:avLst/>
            </a:prstGeom>
          </p:spPr>
          <p:txBody>
            <a:bodyPr lIns="50800" tIns="50800" rIns="50800" bIns="50800" rtlCol="0" anchor="ctr"/>
            <a:lstStyle/>
            <a:p>
              <a:pPr algn="ctr">
                <a:lnSpc>
                  <a:spcPts val="2660"/>
                </a:lnSpc>
              </a:pPr>
            </a:p>
          </p:txBody>
        </p:sp>
      </p:grpSp>
      <p:sp>
        <p:nvSpPr>
          <p:cNvPr id="21" name="TextBox 19"/>
          <p:cNvSpPr txBox="1"/>
          <p:nvPr/>
        </p:nvSpPr>
        <p:spPr>
          <a:xfrm>
            <a:off x="228600" y="2711450"/>
            <a:ext cx="17198975" cy="2792095"/>
          </a:xfrm>
          <a:prstGeom prst="rect">
            <a:avLst/>
          </a:prstGeom>
        </p:spPr>
        <p:txBody>
          <a:bodyPr wrap="square" lIns="0" tIns="0" rIns="0" bIns="0" rtlCol="0" anchor="t">
            <a:spAutoFit/>
          </a:bodyPr>
          <a:p>
            <a:pPr algn="ctr">
              <a:lnSpc>
                <a:spcPts val="4355"/>
              </a:lnSpc>
            </a:pPr>
            <a:r>
              <a:rPr lang="en-US" sz="3110">
                <a:solidFill>
                  <a:srgbClr val="FFFFFF"/>
                </a:solidFill>
              </a:rPr>
              <a:t>A firewall is a network security system that monitors and controls incoming and outgoing network traffic based on  predefined rules. It operates at different layers of the network stack and relies on the kernel to enforce these rules. The kernel, being the core of the operating system, intercepts and evaluates data packets against the firewall's rules before they reach the application layer or the network interface, ensuring security</a:t>
            </a:r>
            <a:endParaRPr lang="en-US" sz="3110">
              <a:solidFill>
                <a:srgbClr val="FFFFFF"/>
              </a:solidFill>
            </a:endParaRPr>
          </a:p>
        </p:txBody>
      </p:sp>
      <p:sp>
        <p:nvSpPr>
          <p:cNvPr id="22" name="TextBox 19"/>
          <p:cNvSpPr txBox="1"/>
          <p:nvPr/>
        </p:nvSpPr>
        <p:spPr>
          <a:xfrm>
            <a:off x="279400" y="6764655"/>
            <a:ext cx="17198975" cy="2792095"/>
          </a:xfrm>
          <a:prstGeom prst="rect">
            <a:avLst/>
          </a:prstGeom>
        </p:spPr>
        <p:txBody>
          <a:bodyPr wrap="square" lIns="0" tIns="0" rIns="0" bIns="0" rtlCol="0" anchor="t">
            <a:spAutoFit/>
          </a:bodyPr>
          <a:p>
            <a:pPr algn="ctr">
              <a:lnSpc>
                <a:spcPts val="4355"/>
              </a:lnSpc>
            </a:pPr>
            <a:r>
              <a:rPr lang="en-US" sz="3110">
                <a:solidFill>
                  <a:srgbClr val="FFFFFF"/>
                </a:solidFill>
              </a:rPr>
              <a:t>Firewalld is a dynamic firewall management tool in RHEL 9 that leverages the kernel's packet-filtering capabilities . It provides an abstraction layer to define zones and apply rules dynamically, without requiring a system restart. The kernel enforces these rules, intercepting and managing packets at the network stack level based on the configurations set by Firewalld. This close interaction with the kernel ensures high performance and system-level control over network traffic.</a:t>
            </a:r>
            <a:endParaRPr lang="en-US" sz="3110">
              <a:solidFill>
                <a:srgbClr val="FFFFFF"/>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0000">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3365358" y="-3350441"/>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sp>
        <p:nvSpPr>
          <p:cNvPr id="3" name="Freeform 3"/>
          <p:cNvSpPr/>
          <p:nvPr/>
        </p:nvSpPr>
        <p:spPr>
          <a:xfrm>
            <a:off x="-1907864" y="6708518"/>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grpSp>
        <p:nvGrpSpPr>
          <p:cNvPr id="4" name="Group 4"/>
          <p:cNvGrpSpPr/>
          <p:nvPr/>
        </p:nvGrpSpPr>
        <p:grpSpPr>
          <a:xfrm rot="0">
            <a:off x="17690482" y="8660782"/>
            <a:ext cx="597518" cy="597518"/>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FF0000">
                    <a:alpha val="100000"/>
                  </a:srgbClr>
                </a:gs>
                <a:gs pos="100000">
                  <a:srgbClr val="5E0000">
                    <a:alpha val="100000"/>
                  </a:srgbClr>
                </a:gs>
              </a:gsLst>
              <a:lin ang="2700000"/>
            </a:gradFill>
          </p:spPr>
        </p:sp>
        <p:sp>
          <p:nvSpPr>
            <p:cNvPr id="6" name="TextBox 6"/>
            <p:cNvSpPr txBox="1"/>
            <p:nvPr/>
          </p:nvSpPr>
          <p:spPr>
            <a:xfrm>
              <a:off x="0" y="-38100"/>
              <a:ext cx="812800" cy="850900"/>
            </a:xfrm>
            <a:prstGeom prst="rect">
              <a:avLst/>
            </a:prstGeom>
          </p:spPr>
          <p:txBody>
            <a:bodyPr lIns="50800" tIns="50800" rIns="50800" bIns="50800" rtlCol="0" anchor="ctr"/>
            <a:lstStyle/>
            <a:p>
              <a:pPr algn="ctr">
                <a:lnSpc>
                  <a:spcPts val="2660"/>
                </a:lnSpc>
              </a:pPr>
            </a:p>
          </p:txBody>
        </p:sp>
      </p:grpSp>
      <p:sp>
        <p:nvSpPr>
          <p:cNvPr id="7" name="Freeform 7"/>
          <p:cNvSpPr/>
          <p:nvPr/>
        </p:nvSpPr>
        <p:spPr>
          <a:xfrm flipH="1" flipV="1">
            <a:off x="17450371" y="454502"/>
            <a:ext cx="407026" cy="407026"/>
          </a:xfrm>
          <a:custGeom>
            <a:avLst/>
            <a:gdLst/>
            <a:ahLst/>
            <a:cxnLst/>
            <a:rect l="l" t="t" r="r" b="b"/>
            <a:pathLst>
              <a:path w="407026" h="407026">
                <a:moveTo>
                  <a:pt x="407025" y="407026"/>
                </a:moveTo>
                <a:lnTo>
                  <a:pt x="0" y="407026"/>
                </a:lnTo>
                <a:lnTo>
                  <a:pt x="0" y="0"/>
                </a:lnTo>
                <a:lnTo>
                  <a:pt x="407025" y="0"/>
                </a:lnTo>
                <a:lnTo>
                  <a:pt x="407025" y="40702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5202610" y="1202110"/>
            <a:ext cx="7882781" cy="7882781"/>
          </a:xfrm>
          <a:custGeom>
            <a:avLst/>
            <a:gdLst/>
            <a:ahLst/>
            <a:cxnLst/>
            <a:rect l="l" t="t" r="r" b="b"/>
            <a:pathLst>
              <a:path w="7882781" h="7882781">
                <a:moveTo>
                  <a:pt x="0" y="0"/>
                </a:moveTo>
                <a:lnTo>
                  <a:pt x="7882780" y="0"/>
                </a:lnTo>
                <a:lnTo>
                  <a:pt x="7882780" y="7882780"/>
                </a:lnTo>
                <a:lnTo>
                  <a:pt x="0" y="7882780"/>
                </a:lnTo>
                <a:lnTo>
                  <a:pt x="0" y="0"/>
                </a:lnTo>
                <a:close/>
              </a:path>
            </a:pathLst>
          </a:custGeom>
          <a:blipFill>
            <a:blip r:embed="rId1"/>
            <a:stretch>
              <a:fillRect/>
            </a:stretch>
          </a:blipFill>
        </p:spPr>
      </p:sp>
      <p:sp>
        <p:nvSpPr>
          <p:cNvPr id="9" name="TextBox 9"/>
          <p:cNvSpPr txBox="1"/>
          <p:nvPr/>
        </p:nvSpPr>
        <p:spPr>
          <a:xfrm>
            <a:off x="17857396" y="8851031"/>
            <a:ext cx="263689" cy="215265"/>
          </a:xfrm>
          <a:prstGeom prst="rect">
            <a:avLst/>
          </a:prstGeom>
        </p:spPr>
        <p:txBody>
          <a:bodyPr lIns="0" tIns="0" rIns="0" bIns="0" rtlCol="0" anchor="t">
            <a:spAutoFit/>
          </a:bodyPr>
          <a:lstStyle/>
          <a:p>
            <a:pPr algn="ctr">
              <a:lnSpc>
                <a:spcPts val="1680"/>
              </a:lnSpc>
              <a:spcBef>
                <a:spcPct val="0"/>
              </a:spcBef>
            </a:pPr>
            <a:r>
              <a:rPr lang="en-US" sz="1200" b="1">
                <a:solidFill>
                  <a:srgbClr val="FFFFFF"/>
                </a:solidFill>
                <a:latin typeface="Open Sans Bold"/>
                <a:ea typeface="Open Sans Bold"/>
                <a:cs typeface="Open Sans Bold"/>
                <a:sym typeface="Open Sans Bold"/>
              </a:rPr>
              <a:t>0</a:t>
            </a:r>
            <a:r>
              <a:rPr lang="fr-FR" altLang="en-US" sz="1200" b="1">
                <a:solidFill>
                  <a:srgbClr val="FFFFFF"/>
                </a:solidFill>
                <a:latin typeface="Open Sans Bold"/>
                <a:ea typeface="Open Sans Bold"/>
                <a:cs typeface="Open Sans Bold"/>
                <a:sym typeface="Open Sans Bold"/>
              </a:rPr>
              <a:t>5</a:t>
            </a:r>
            <a:endParaRPr lang="fr-FR" altLang="en-US" sz="1200" b="1">
              <a:solidFill>
                <a:srgbClr val="FFFFFF"/>
              </a:solidFill>
              <a:latin typeface="Open Sans Bold"/>
              <a:ea typeface="Open Sans Bold"/>
              <a:cs typeface="Open Sans Bold"/>
              <a:sym typeface="Open Sans Bold"/>
            </a:endParaRPr>
          </a:p>
        </p:txBody>
      </p:sp>
      <p:sp>
        <p:nvSpPr>
          <p:cNvPr id="10" name="TextBox 10"/>
          <p:cNvSpPr txBox="1"/>
          <p:nvPr/>
        </p:nvSpPr>
        <p:spPr>
          <a:xfrm>
            <a:off x="3640449" y="3501838"/>
            <a:ext cx="11007102" cy="3283325"/>
          </a:xfrm>
          <a:prstGeom prst="rect">
            <a:avLst/>
          </a:prstGeom>
        </p:spPr>
        <p:txBody>
          <a:bodyPr lIns="0" tIns="0" rIns="0" bIns="0" rtlCol="0" anchor="t">
            <a:spAutoFit/>
          </a:bodyPr>
          <a:lstStyle/>
          <a:p>
            <a:pPr algn="ctr">
              <a:lnSpc>
                <a:spcPts val="13015"/>
              </a:lnSpc>
            </a:pPr>
            <a:r>
              <a:rPr lang="en-US" sz="10845">
                <a:solidFill>
                  <a:srgbClr val="FFFFFF"/>
                </a:solidFill>
                <a:latin typeface="Changa SemiBold" panose="00000700000000000000"/>
                <a:ea typeface="Changa SemiBold" panose="00000700000000000000"/>
                <a:cs typeface="Changa SemiBold" panose="00000700000000000000"/>
                <a:sym typeface="Changa SemiBold" panose="00000700000000000000"/>
              </a:rPr>
              <a:t>Securing Services with SELinux</a:t>
            </a:r>
            <a:endParaRPr lang="en-US" sz="10845">
              <a:solidFill>
                <a:srgbClr val="FFFFFF"/>
              </a:solidFill>
              <a:latin typeface="Changa SemiBold" panose="00000700000000000000"/>
              <a:ea typeface="Changa SemiBold" panose="00000700000000000000"/>
              <a:cs typeface="Changa SemiBold" panose="00000700000000000000"/>
              <a:sym typeface="Changa SemiBold" panose="00000700000000000000"/>
            </a:endParaRPr>
          </a:p>
        </p:txBody>
      </p:sp>
      <p:sp>
        <p:nvSpPr>
          <p:cNvPr id="11" name="TextBox 11"/>
          <p:cNvSpPr txBox="1"/>
          <p:nvPr/>
        </p:nvSpPr>
        <p:spPr>
          <a:xfrm>
            <a:off x="202563" y="9599240"/>
            <a:ext cx="10247699" cy="589280"/>
          </a:xfrm>
          <a:prstGeom prst="rect">
            <a:avLst/>
          </a:prstGeom>
        </p:spPr>
        <p:txBody>
          <a:bodyPr lIns="0" tIns="0" rIns="0" bIns="0" rtlCol="0" anchor="t">
            <a:spAutoFit/>
          </a:bodyPr>
          <a:lstStyle/>
          <a:p>
            <a:pPr algn="l">
              <a:lnSpc>
                <a:spcPts val="4360"/>
              </a:lnSpc>
            </a:pPr>
            <a:r>
              <a:rPr lang="en-US" sz="4000" b="1">
                <a:solidFill>
                  <a:srgbClr val="FFFFFF"/>
                </a:solidFill>
                <a:latin typeface="Bebas Neue Bold" panose="020B0606020202050201"/>
                <a:ea typeface="Bebas Neue Bold" panose="020B0606020202050201"/>
                <a:cs typeface="Bebas Neue Bold" panose="020B0606020202050201"/>
                <a:sym typeface="Bebas Neue Bold" panose="020B0606020202050201"/>
              </a:rPr>
              <a:t>PRESENTED BY : MOHAMMED REQASSE &amp; SOUHAYL RAMDANI</a:t>
            </a:r>
            <a:endParaRPr lang="en-US" sz="4000" b="1">
              <a:solidFill>
                <a:srgbClr val="FFFFFF"/>
              </a:solidFill>
              <a:latin typeface="Bebas Neue Bold" panose="020B0606020202050201"/>
              <a:ea typeface="Bebas Neue Bold" panose="020B0606020202050201"/>
              <a:cs typeface="Bebas Neue Bold" panose="020B0606020202050201"/>
              <a:sym typeface="Bebas Neue Bold" panose="020B0606020202050201"/>
            </a:endParaRPr>
          </a:p>
        </p:txBody>
      </p:sp>
      <p:sp>
        <p:nvSpPr>
          <p:cNvPr id="12" name="TextBox 12"/>
          <p:cNvSpPr txBox="1"/>
          <p:nvPr/>
        </p:nvSpPr>
        <p:spPr>
          <a:xfrm>
            <a:off x="4871224" y="440845"/>
            <a:ext cx="5111081"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Red Hat System Security</a:t>
            </a:r>
            <a:endParaRPr lang="en-US" sz="2125">
              <a:solidFill>
                <a:srgbClr val="FFFFFF"/>
              </a:solidFill>
              <a:latin typeface="Open Sans"/>
              <a:ea typeface="Open Sans"/>
              <a:cs typeface="Open Sans"/>
              <a:sym typeface="Open Sans"/>
            </a:endParaRPr>
          </a:p>
        </p:txBody>
      </p:sp>
      <p:sp>
        <p:nvSpPr>
          <p:cNvPr id="13" name="TextBox 13"/>
          <p:cNvSpPr txBox="1"/>
          <p:nvPr/>
        </p:nvSpPr>
        <p:spPr>
          <a:xfrm>
            <a:off x="10860036" y="440845"/>
            <a:ext cx="2225355"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GTR 1ere Année</a:t>
            </a:r>
            <a:endParaRPr lang="en-US" sz="2125">
              <a:solidFill>
                <a:srgbClr val="FFFFFF"/>
              </a:solidFill>
              <a:latin typeface="Open Sans"/>
              <a:ea typeface="Open Sans"/>
              <a:cs typeface="Open Sans"/>
              <a:sym typeface="Open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0000">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3365358" y="-3350441"/>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sp>
        <p:nvSpPr>
          <p:cNvPr id="3" name="Freeform 3"/>
          <p:cNvSpPr/>
          <p:nvPr/>
        </p:nvSpPr>
        <p:spPr>
          <a:xfrm>
            <a:off x="-1907864" y="6708518"/>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grpSp>
        <p:nvGrpSpPr>
          <p:cNvPr id="4" name="Group 4"/>
          <p:cNvGrpSpPr/>
          <p:nvPr/>
        </p:nvGrpSpPr>
        <p:grpSpPr>
          <a:xfrm rot="0">
            <a:off x="17690482" y="8660782"/>
            <a:ext cx="597518" cy="597518"/>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FF0000">
                    <a:alpha val="100000"/>
                  </a:srgbClr>
                </a:gs>
                <a:gs pos="100000">
                  <a:srgbClr val="5E0000">
                    <a:alpha val="100000"/>
                  </a:srgbClr>
                </a:gs>
              </a:gsLst>
              <a:lin ang="2700000"/>
            </a:gradFill>
          </p:spPr>
        </p:sp>
        <p:sp>
          <p:nvSpPr>
            <p:cNvPr id="6" name="TextBox 6"/>
            <p:cNvSpPr txBox="1"/>
            <p:nvPr/>
          </p:nvSpPr>
          <p:spPr>
            <a:xfrm>
              <a:off x="0" y="-38100"/>
              <a:ext cx="812800" cy="850900"/>
            </a:xfrm>
            <a:prstGeom prst="rect">
              <a:avLst/>
            </a:prstGeom>
          </p:spPr>
          <p:txBody>
            <a:bodyPr lIns="50800" tIns="50800" rIns="50800" bIns="50800" rtlCol="0" anchor="ctr"/>
            <a:lstStyle/>
            <a:p>
              <a:pPr algn="ctr">
                <a:lnSpc>
                  <a:spcPts val="2660"/>
                </a:lnSpc>
              </a:pPr>
            </a:p>
          </p:txBody>
        </p:sp>
      </p:grpSp>
      <p:sp>
        <p:nvSpPr>
          <p:cNvPr id="7" name="Freeform 7"/>
          <p:cNvSpPr/>
          <p:nvPr/>
        </p:nvSpPr>
        <p:spPr>
          <a:xfrm flipH="1" flipV="1">
            <a:off x="17450371" y="454502"/>
            <a:ext cx="407026" cy="407026"/>
          </a:xfrm>
          <a:custGeom>
            <a:avLst/>
            <a:gdLst/>
            <a:ahLst/>
            <a:cxnLst/>
            <a:rect l="l" t="t" r="r" b="b"/>
            <a:pathLst>
              <a:path w="407026" h="407026">
                <a:moveTo>
                  <a:pt x="407025" y="407026"/>
                </a:moveTo>
                <a:lnTo>
                  <a:pt x="0" y="407026"/>
                </a:lnTo>
                <a:lnTo>
                  <a:pt x="0" y="0"/>
                </a:lnTo>
                <a:lnTo>
                  <a:pt x="407025" y="0"/>
                </a:lnTo>
                <a:lnTo>
                  <a:pt x="407025" y="40702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5202610" y="1059552"/>
            <a:ext cx="7882781" cy="7882781"/>
          </a:xfrm>
          <a:custGeom>
            <a:avLst/>
            <a:gdLst/>
            <a:ahLst/>
            <a:cxnLst/>
            <a:rect l="l" t="t" r="r" b="b"/>
            <a:pathLst>
              <a:path w="7882781" h="7882781">
                <a:moveTo>
                  <a:pt x="0" y="0"/>
                </a:moveTo>
                <a:lnTo>
                  <a:pt x="7882780" y="0"/>
                </a:lnTo>
                <a:lnTo>
                  <a:pt x="7882780" y="7882781"/>
                </a:lnTo>
                <a:lnTo>
                  <a:pt x="0" y="7882781"/>
                </a:lnTo>
                <a:lnTo>
                  <a:pt x="0" y="0"/>
                </a:lnTo>
                <a:close/>
              </a:path>
            </a:pathLst>
          </a:custGeom>
          <a:blipFill>
            <a:blip r:embed="rId1"/>
            <a:stretch>
              <a:fillRect/>
            </a:stretch>
          </a:blipFill>
        </p:spPr>
      </p:sp>
      <p:grpSp>
        <p:nvGrpSpPr>
          <p:cNvPr id="9" name="Group 9"/>
          <p:cNvGrpSpPr/>
          <p:nvPr/>
        </p:nvGrpSpPr>
        <p:grpSpPr>
          <a:xfrm rot="0">
            <a:off x="202565" y="3067050"/>
            <a:ext cx="17216120" cy="1544320"/>
            <a:chOff x="0" y="0"/>
            <a:chExt cx="4719282" cy="406728"/>
          </a:xfrm>
        </p:grpSpPr>
        <p:sp>
          <p:nvSpPr>
            <p:cNvPr id="10" name="Freeform 10"/>
            <p:cNvSpPr/>
            <p:nvPr/>
          </p:nvSpPr>
          <p:spPr>
            <a:xfrm>
              <a:off x="0" y="0"/>
              <a:ext cx="4719282" cy="406728"/>
            </a:xfrm>
            <a:custGeom>
              <a:avLst/>
              <a:gdLst/>
              <a:ahLst/>
              <a:cxnLst/>
              <a:rect l="l" t="t" r="r" b="b"/>
              <a:pathLst>
                <a:path w="4719282" h="406728">
                  <a:moveTo>
                    <a:pt x="13394" y="0"/>
                  </a:moveTo>
                  <a:lnTo>
                    <a:pt x="4705888" y="0"/>
                  </a:lnTo>
                  <a:cubicBezTo>
                    <a:pt x="4713285" y="0"/>
                    <a:pt x="4719282" y="5997"/>
                    <a:pt x="4719282" y="13394"/>
                  </a:cubicBezTo>
                  <a:lnTo>
                    <a:pt x="4719282" y="393334"/>
                  </a:lnTo>
                  <a:cubicBezTo>
                    <a:pt x="4719282" y="396886"/>
                    <a:pt x="4717871" y="400293"/>
                    <a:pt x="4715359" y="402805"/>
                  </a:cubicBezTo>
                  <a:cubicBezTo>
                    <a:pt x="4712847" y="405317"/>
                    <a:pt x="4709440" y="406728"/>
                    <a:pt x="4705888" y="406728"/>
                  </a:cubicBezTo>
                  <a:lnTo>
                    <a:pt x="13394" y="406728"/>
                  </a:lnTo>
                  <a:cubicBezTo>
                    <a:pt x="9842" y="406728"/>
                    <a:pt x="6435" y="405317"/>
                    <a:pt x="3923" y="402805"/>
                  </a:cubicBezTo>
                  <a:cubicBezTo>
                    <a:pt x="1411" y="400293"/>
                    <a:pt x="0" y="396886"/>
                    <a:pt x="0" y="393334"/>
                  </a:cubicBezTo>
                  <a:lnTo>
                    <a:pt x="0" y="13394"/>
                  </a:lnTo>
                  <a:cubicBezTo>
                    <a:pt x="0" y="9842"/>
                    <a:pt x="1411" y="6435"/>
                    <a:pt x="3923" y="3923"/>
                  </a:cubicBezTo>
                  <a:cubicBezTo>
                    <a:pt x="6435" y="1411"/>
                    <a:pt x="9842" y="0"/>
                    <a:pt x="13394" y="0"/>
                  </a:cubicBezTo>
                  <a:close/>
                </a:path>
              </a:pathLst>
            </a:custGeom>
            <a:gradFill rotWithShape="1">
              <a:gsLst>
                <a:gs pos="0">
                  <a:srgbClr val="F83308">
                    <a:alpha val="100000"/>
                  </a:srgbClr>
                </a:gs>
                <a:gs pos="100000">
                  <a:srgbClr val="480B00">
                    <a:alpha val="100000"/>
                  </a:srgbClr>
                </a:gs>
              </a:gsLst>
              <a:path path="circle">
                <a:fillToRect l="50000" t="50000" r="50000" b="50000"/>
              </a:path>
            </a:gradFill>
          </p:spPr>
        </p:sp>
        <p:sp>
          <p:nvSpPr>
            <p:cNvPr id="11" name="TextBox 11"/>
            <p:cNvSpPr txBox="1"/>
            <p:nvPr/>
          </p:nvSpPr>
          <p:spPr>
            <a:xfrm>
              <a:off x="0" y="-38100"/>
              <a:ext cx="4719282" cy="444828"/>
            </a:xfrm>
            <a:prstGeom prst="rect">
              <a:avLst/>
            </a:prstGeom>
          </p:spPr>
          <p:txBody>
            <a:bodyPr lIns="50800" tIns="50800" rIns="50800" bIns="50800" rtlCol="0" anchor="ctr"/>
            <a:lstStyle/>
            <a:p>
              <a:pPr algn="ctr">
                <a:lnSpc>
                  <a:spcPts val="2660"/>
                </a:lnSpc>
              </a:pPr>
            </a:p>
          </p:txBody>
        </p:sp>
      </p:grpSp>
      <p:sp>
        <p:nvSpPr>
          <p:cNvPr id="12" name="TextBox 12"/>
          <p:cNvSpPr txBox="1"/>
          <p:nvPr/>
        </p:nvSpPr>
        <p:spPr>
          <a:xfrm>
            <a:off x="17857396" y="8851031"/>
            <a:ext cx="263689" cy="215265"/>
          </a:xfrm>
          <a:prstGeom prst="rect">
            <a:avLst/>
          </a:prstGeom>
        </p:spPr>
        <p:txBody>
          <a:bodyPr lIns="0" tIns="0" rIns="0" bIns="0" rtlCol="0" anchor="t">
            <a:spAutoFit/>
          </a:bodyPr>
          <a:lstStyle/>
          <a:p>
            <a:pPr algn="ctr">
              <a:lnSpc>
                <a:spcPts val="1680"/>
              </a:lnSpc>
              <a:spcBef>
                <a:spcPct val="0"/>
              </a:spcBef>
            </a:pPr>
            <a:r>
              <a:rPr lang="en-US" sz="1200" b="1">
                <a:solidFill>
                  <a:srgbClr val="FFFFFF"/>
                </a:solidFill>
                <a:latin typeface="Open Sans Bold"/>
                <a:ea typeface="Open Sans Bold"/>
                <a:cs typeface="Open Sans Bold"/>
                <a:sym typeface="Open Sans Bold"/>
              </a:rPr>
              <a:t>0</a:t>
            </a:r>
            <a:r>
              <a:rPr lang="fr-FR" altLang="en-US" sz="1200" b="1">
                <a:solidFill>
                  <a:srgbClr val="FFFFFF"/>
                </a:solidFill>
                <a:latin typeface="Open Sans Bold"/>
                <a:ea typeface="Open Sans Bold"/>
                <a:cs typeface="Open Sans Bold"/>
                <a:sym typeface="Open Sans Bold"/>
              </a:rPr>
              <a:t>6</a:t>
            </a:r>
            <a:endParaRPr lang="fr-FR" altLang="en-US" sz="1200" b="1">
              <a:solidFill>
                <a:srgbClr val="FFFFFF"/>
              </a:solidFill>
              <a:latin typeface="Open Sans Bold"/>
              <a:ea typeface="Open Sans Bold"/>
              <a:cs typeface="Open Sans Bold"/>
              <a:sym typeface="Open Sans Bold"/>
            </a:endParaRPr>
          </a:p>
        </p:txBody>
      </p:sp>
      <p:sp>
        <p:nvSpPr>
          <p:cNvPr id="13" name="TextBox 13"/>
          <p:cNvSpPr txBox="1"/>
          <p:nvPr/>
        </p:nvSpPr>
        <p:spPr>
          <a:xfrm>
            <a:off x="202563" y="1257300"/>
            <a:ext cx="10694321" cy="896365"/>
          </a:xfrm>
          <a:prstGeom prst="rect">
            <a:avLst/>
          </a:prstGeom>
        </p:spPr>
        <p:txBody>
          <a:bodyPr lIns="0" tIns="0" rIns="0" bIns="0" rtlCol="0" anchor="t">
            <a:spAutoFit/>
          </a:bodyPr>
          <a:lstStyle/>
          <a:p>
            <a:pPr algn="l">
              <a:lnSpc>
                <a:spcPts val="7105"/>
              </a:lnSpc>
            </a:pPr>
            <a:r>
              <a:rPr lang="en-US" sz="5920">
                <a:solidFill>
                  <a:srgbClr val="FFFFFF"/>
                </a:solidFill>
                <a:latin typeface="Changa SemiBold" panose="00000700000000000000"/>
                <a:ea typeface="Changa SemiBold" panose="00000700000000000000"/>
                <a:cs typeface="Changa SemiBold" panose="00000700000000000000"/>
                <a:sym typeface="Changa SemiBold" panose="00000700000000000000"/>
              </a:rPr>
              <a:t>Securing Services with SELinux</a:t>
            </a:r>
            <a:endParaRPr lang="en-US" sz="5920">
              <a:solidFill>
                <a:srgbClr val="FFFFFF"/>
              </a:solidFill>
              <a:latin typeface="Changa SemiBold" panose="00000700000000000000"/>
              <a:ea typeface="Changa SemiBold" panose="00000700000000000000"/>
              <a:cs typeface="Changa SemiBold" panose="00000700000000000000"/>
              <a:sym typeface="Changa SemiBold" panose="00000700000000000000"/>
            </a:endParaRPr>
          </a:p>
        </p:txBody>
      </p:sp>
      <p:sp>
        <p:nvSpPr>
          <p:cNvPr id="14" name="TextBox 14"/>
          <p:cNvSpPr txBox="1"/>
          <p:nvPr/>
        </p:nvSpPr>
        <p:spPr>
          <a:xfrm>
            <a:off x="4871224" y="440845"/>
            <a:ext cx="5111081"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Red Hat System Security</a:t>
            </a:r>
            <a:endParaRPr lang="en-US" sz="2125">
              <a:solidFill>
                <a:srgbClr val="FFFFFF"/>
              </a:solidFill>
              <a:latin typeface="Open Sans"/>
              <a:ea typeface="Open Sans"/>
              <a:cs typeface="Open Sans"/>
              <a:sym typeface="Open Sans"/>
            </a:endParaRPr>
          </a:p>
        </p:txBody>
      </p:sp>
      <p:sp>
        <p:nvSpPr>
          <p:cNvPr id="15" name="TextBox 15"/>
          <p:cNvSpPr txBox="1"/>
          <p:nvPr/>
        </p:nvSpPr>
        <p:spPr>
          <a:xfrm>
            <a:off x="10860036" y="440845"/>
            <a:ext cx="2225355"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GTR 1ere Année</a:t>
            </a:r>
            <a:endParaRPr lang="en-US" sz="2125">
              <a:solidFill>
                <a:srgbClr val="FFFFFF"/>
              </a:solidFill>
              <a:latin typeface="Open Sans"/>
              <a:ea typeface="Open Sans"/>
              <a:cs typeface="Open Sans"/>
              <a:sym typeface="Open Sans"/>
            </a:endParaRPr>
          </a:p>
        </p:txBody>
      </p:sp>
      <p:sp>
        <p:nvSpPr>
          <p:cNvPr id="16" name="TextBox 16"/>
          <p:cNvSpPr txBox="1"/>
          <p:nvPr/>
        </p:nvSpPr>
        <p:spPr>
          <a:xfrm>
            <a:off x="462772" y="2221697"/>
            <a:ext cx="6327428" cy="845423"/>
          </a:xfrm>
          <a:prstGeom prst="rect">
            <a:avLst/>
          </a:prstGeom>
        </p:spPr>
        <p:txBody>
          <a:bodyPr lIns="0" tIns="0" rIns="0" bIns="0" rtlCol="0" anchor="t">
            <a:spAutoFit/>
          </a:bodyPr>
          <a:lstStyle/>
          <a:p>
            <a:pPr marL="1071880" lvl="1" indent="-535940" algn="l">
              <a:lnSpc>
                <a:spcPts val="6950"/>
              </a:lnSpc>
              <a:buFont typeface="Arial" panose="020B0604020202020204"/>
              <a:buChar char="•"/>
            </a:pPr>
            <a:r>
              <a:rPr lang="en-US" sz="4965" b="1">
                <a:solidFill>
                  <a:srgbClr val="FFFFFF"/>
                </a:solidFill>
                <a:latin typeface="Open Sans Bold"/>
                <a:ea typeface="Open Sans Bold"/>
                <a:cs typeface="Open Sans Bold"/>
                <a:sym typeface="Open Sans Bold"/>
              </a:rPr>
              <a:t>What is SELinux?</a:t>
            </a:r>
            <a:endParaRPr lang="en-US" sz="4965" b="1">
              <a:solidFill>
                <a:srgbClr val="FFFFFF"/>
              </a:solidFill>
              <a:latin typeface="Open Sans Bold"/>
              <a:ea typeface="Open Sans Bold"/>
              <a:cs typeface="Open Sans Bold"/>
              <a:sym typeface="Open Sans Bold"/>
            </a:endParaRPr>
          </a:p>
        </p:txBody>
      </p:sp>
      <p:sp>
        <p:nvSpPr>
          <p:cNvPr id="17" name="TextBox 17"/>
          <p:cNvSpPr txBox="1"/>
          <p:nvPr/>
        </p:nvSpPr>
        <p:spPr>
          <a:xfrm>
            <a:off x="462772" y="4781621"/>
            <a:ext cx="9441656" cy="845423"/>
          </a:xfrm>
          <a:prstGeom prst="rect">
            <a:avLst/>
          </a:prstGeom>
        </p:spPr>
        <p:txBody>
          <a:bodyPr lIns="0" tIns="0" rIns="0" bIns="0" rtlCol="0" anchor="t">
            <a:spAutoFit/>
          </a:bodyPr>
          <a:lstStyle/>
          <a:p>
            <a:pPr marL="1071880" lvl="1" indent="-535940" algn="l">
              <a:lnSpc>
                <a:spcPts val="6950"/>
              </a:lnSpc>
              <a:buFont typeface="Arial" panose="020B0604020202020204"/>
              <a:buChar char="•"/>
            </a:pPr>
            <a:r>
              <a:rPr lang="en-US" sz="4965" b="1">
                <a:solidFill>
                  <a:srgbClr val="FFFFFF"/>
                </a:solidFill>
                <a:latin typeface="Open Sans Bold"/>
                <a:ea typeface="Open Sans Bold"/>
                <a:cs typeface="Open Sans Bold"/>
                <a:sym typeface="Open Sans Bold"/>
              </a:rPr>
              <a:t>Why SELinux is Important?</a:t>
            </a:r>
            <a:endParaRPr lang="en-US" sz="4965" b="1">
              <a:solidFill>
                <a:srgbClr val="FFFFFF"/>
              </a:solidFill>
              <a:latin typeface="Open Sans Bold"/>
              <a:ea typeface="Open Sans Bold"/>
              <a:cs typeface="Open Sans Bold"/>
              <a:sym typeface="Open Sans Bold"/>
            </a:endParaRPr>
          </a:p>
        </p:txBody>
      </p:sp>
      <p:sp>
        <p:nvSpPr>
          <p:cNvPr id="18" name="TextBox 18"/>
          <p:cNvSpPr txBox="1"/>
          <p:nvPr/>
        </p:nvSpPr>
        <p:spPr>
          <a:xfrm>
            <a:off x="462772" y="7284394"/>
            <a:ext cx="5145732" cy="845423"/>
          </a:xfrm>
          <a:prstGeom prst="rect">
            <a:avLst/>
          </a:prstGeom>
        </p:spPr>
        <p:txBody>
          <a:bodyPr lIns="0" tIns="0" rIns="0" bIns="0" rtlCol="0" anchor="t">
            <a:spAutoFit/>
          </a:bodyPr>
          <a:lstStyle/>
          <a:p>
            <a:pPr marL="1071880" lvl="1" indent="-535940" algn="l">
              <a:lnSpc>
                <a:spcPts val="6950"/>
              </a:lnSpc>
              <a:buFont typeface="Arial" panose="020B0604020202020204"/>
              <a:buChar char="•"/>
            </a:pPr>
            <a:r>
              <a:rPr lang="en-US" sz="4965" b="1">
                <a:solidFill>
                  <a:srgbClr val="FFFFFF"/>
                </a:solidFill>
                <a:latin typeface="Open Sans Bold"/>
                <a:ea typeface="Open Sans Bold"/>
                <a:cs typeface="Open Sans Bold"/>
                <a:sym typeface="Open Sans Bold"/>
              </a:rPr>
              <a:t>Key Features</a:t>
            </a:r>
            <a:endParaRPr lang="en-US" sz="4965" b="1">
              <a:solidFill>
                <a:srgbClr val="FFFFFF"/>
              </a:solidFill>
              <a:latin typeface="Open Sans Bold"/>
              <a:ea typeface="Open Sans Bold"/>
              <a:cs typeface="Open Sans Bold"/>
              <a:sym typeface="Open Sans Bold"/>
            </a:endParaRPr>
          </a:p>
        </p:txBody>
      </p:sp>
      <p:sp>
        <p:nvSpPr>
          <p:cNvPr id="19" name="TextBox 19"/>
          <p:cNvSpPr txBox="1"/>
          <p:nvPr/>
        </p:nvSpPr>
        <p:spPr>
          <a:xfrm>
            <a:off x="0" y="3234690"/>
            <a:ext cx="17198975" cy="1675130"/>
          </a:xfrm>
          <a:prstGeom prst="rect">
            <a:avLst/>
          </a:prstGeom>
        </p:spPr>
        <p:txBody>
          <a:bodyPr wrap="square" lIns="0" tIns="0" rIns="0" bIns="0" rtlCol="0" anchor="t">
            <a:spAutoFit/>
          </a:bodyPr>
          <a:lstStyle/>
          <a:p>
            <a:pPr algn="ctr">
              <a:lnSpc>
                <a:spcPts val="4355"/>
              </a:lnSpc>
            </a:pPr>
            <a:r>
              <a:rPr lang="en-US" sz="3110" b="1">
                <a:solidFill>
                  <a:srgbClr val="FFFFFF"/>
                </a:solidFill>
                <a:latin typeface="Arimo Bold" panose="020B0704020202020204"/>
                <a:ea typeface="Arimo Bold" panose="020B0704020202020204"/>
                <a:cs typeface="Arimo Bold" panose="020B0704020202020204"/>
                <a:sym typeface="Arimo Bold" panose="020B0704020202020204"/>
              </a:rPr>
              <a:t>SELinux</a:t>
            </a:r>
            <a:r>
              <a:rPr lang="en-US" sz="3110">
                <a:solidFill>
                  <a:srgbClr val="FFFFFF"/>
                </a:solidFill>
                <a:latin typeface="Arimo" panose="020B0604020202020204"/>
                <a:ea typeface="Arimo" panose="020B0604020202020204"/>
                <a:cs typeface="Arimo" panose="020B0604020202020204"/>
                <a:sym typeface="Arimo" panose="020B0604020202020204"/>
              </a:rPr>
              <a:t> (</a:t>
            </a:r>
            <a:r>
              <a:rPr lang="en-US" sz="3110" b="1">
                <a:solidFill>
                  <a:srgbClr val="FFFFFF"/>
                </a:solidFill>
                <a:latin typeface="Arimo Bold" panose="020B0704020202020204"/>
                <a:ea typeface="Arimo Bold" panose="020B0704020202020204"/>
                <a:cs typeface="Arimo Bold" panose="020B0704020202020204"/>
                <a:sym typeface="Arimo Bold" panose="020B0704020202020204"/>
              </a:rPr>
              <a:t>Security Enhanced Linux</a:t>
            </a:r>
            <a:r>
              <a:rPr lang="en-US" sz="3110">
                <a:solidFill>
                  <a:srgbClr val="FFFFFF"/>
                </a:solidFill>
                <a:latin typeface="Arimo" panose="020B0604020202020204"/>
                <a:ea typeface="Arimo" panose="020B0604020202020204"/>
                <a:cs typeface="Arimo" panose="020B0604020202020204"/>
                <a:sym typeface="Arimo" panose="020B0604020202020204"/>
              </a:rPr>
              <a:t>) is a Linux security framework by the </a:t>
            </a:r>
            <a:r>
              <a:rPr lang="en-US" sz="3110" b="1">
                <a:solidFill>
                  <a:srgbClr val="FFFFFF"/>
                </a:solidFill>
                <a:latin typeface="Arimo Bold" panose="020B0704020202020204"/>
                <a:ea typeface="Arimo Bold" panose="020B0704020202020204"/>
                <a:cs typeface="Arimo Bold" panose="020B0704020202020204"/>
                <a:sym typeface="Arimo Bold" panose="020B0704020202020204"/>
              </a:rPr>
              <a:t>NSA</a:t>
            </a:r>
            <a:r>
              <a:rPr lang="en-US" sz="3110">
                <a:solidFill>
                  <a:srgbClr val="FFFFFF"/>
                </a:solidFill>
                <a:latin typeface="Arimo" panose="020B0604020202020204"/>
                <a:ea typeface="Arimo" panose="020B0604020202020204"/>
                <a:cs typeface="Arimo" panose="020B0604020202020204"/>
                <a:sym typeface="Arimo" panose="020B0604020202020204"/>
              </a:rPr>
              <a:t> that enforces Mandatory Access Control (MAC) to limit damage from exploits or misconfigurations.</a:t>
            </a:r>
            <a:endParaRPr lang="en-US" sz="3110">
              <a:solidFill>
                <a:srgbClr val="FFFFFF"/>
              </a:solidFill>
              <a:latin typeface="Arimo" panose="020B0604020202020204"/>
              <a:ea typeface="Arimo" panose="020B0604020202020204"/>
              <a:cs typeface="Arimo" panose="020B0604020202020204"/>
              <a:sym typeface="Arimo" panose="020B0604020202020204"/>
            </a:endParaRPr>
          </a:p>
          <a:p>
            <a:pPr algn="ctr" rtl="1">
              <a:lnSpc>
                <a:spcPts val="4355"/>
              </a:lnSpc>
            </a:pPr>
          </a:p>
        </p:txBody>
      </p:sp>
      <p:grpSp>
        <p:nvGrpSpPr>
          <p:cNvPr id="20" name="Group 20"/>
          <p:cNvGrpSpPr/>
          <p:nvPr/>
        </p:nvGrpSpPr>
        <p:grpSpPr>
          <a:xfrm rot="0">
            <a:off x="202565" y="5845175"/>
            <a:ext cx="17216120" cy="1544320"/>
            <a:chOff x="0" y="0"/>
            <a:chExt cx="4719282" cy="406728"/>
          </a:xfrm>
        </p:grpSpPr>
        <p:sp>
          <p:nvSpPr>
            <p:cNvPr id="21" name="Freeform 21"/>
            <p:cNvSpPr/>
            <p:nvPr/>
          </p:nvSpPr>
          <p:spPr>
            <a:xfrm>
              <a:off x="0" y="0"/>
              <a:ext cx="4719282" cy="406728"/>
            </a:xfrm>
            <a:custGeom>
              <a:avLst/>
              <a:gdLst/>
              <a:ahLst/>
              <a:cxnLst/>
              <a:rect l="l" t="t" r="r" b="b"/>
              <a:pathLst>
                <a:path w="4719282" h="406728">
                  <a:moveTo>
                    <a:pt x="13394" y="0"/>
                  </a:moveTo>
                  <a:lnTo>
                    <a:pt x="4705888" y="0"/>
                  </a:lnTo>
                  <a:cubicBezTo>
                    <a:pt x="4713285" y="0"/>
                    <a:pt x="4719282" y="5997"/>
                    <a:pt x="4719282" y="13394"/>
                  </a:cubicBezTo>
                  <a:lnTo>
                    <a:pt x="4719282" y="393334"/>
                  </a:lnTo>
                  <a:cubicBezTo>
                    <a:pt x="4719282" y="396886"/>
                    <a:pt x="4717871" y="400293"/>
                    <a:pt x="4715359" y="402805"/>
                  </a:cubicBezTo>
                  <a:cubicBezTo>
                    <a:pt x="4712847" y="405317"/>
                    <a:pt x="4709440" y="406728"/>
                    <a:pt x="4705888" y="406728"/>
                  </a:cubicBezTo>
                  <a:lnTo>
                    <a:pt x="13394" y="406728"/>
                  </a:lnTo>
                  <a:cubicBezTo>
                    <a:pt x="9842" y="406728"/>
                    <a:pt x="6435" y="405317"/>
                    <a:pt x="3923" y="402805"/>
                  </a:cubicBezTo>
                  <a:cubicBezTo>
                    <a:pt x="1411" y="400293"/>
                    <a:pt x="0" y="396886"/>
                    <a:pt x="0" y="393334"/>
                  </a:cubicBezTo>
                  <a:lnTo>
                    <a:pt x="0" y="13394"/>
                  </a:lnTo>
                  <a:cubicBezTo>
                    <a:pt x="0" y="9842"/>
                    <a:pt x="1411" y="6435"/>
                    <a:pt x="3923" y="3923"/>
                  </a:cubicBezTo>
                  <a:cubicBezTo>
                    <a:pt x="6435" y="1411"/>
                    <a:pt x="9842" y="0"/>
                    <a:pt x="13394" y="0"/>
                  </a:cubicBezTo>
                  <a:close/>
                </a:path>
              </a:pathLst>
            </a:custGeom>
            <a:gradFill rotWithShape="1">
              <a:gsLst>
                <a:gs pos="0">
                  <a:srgbClr val="F83308">
                    <a:alpha val="100000"/>
                  </a:srgbClr>
                </a:gs>
                <a:gs pos="100000">
                  <a:srgbClr val="480B00">
                    <a:alpha val="100000"/>
                  </a:srgbClr>
                </a:gs>
              </a:gsLst>
              <a:path path="circle">
                <a:fillToRect l="50000" t="50000" r="50000" b="50000"/>
              </a:path>
            </a:gradFill>
          </p:spPr>
        </p:sp>
        <p:sp>
          <p:nvSpPr>
            <p:cNvPr id="22" name="TextBox 22"/>
            <p:cNvSpPr txBox="1"/>
            <p:nvPr/>
          </p:nvSpPr>
          <p:spPr>
            <a:xfrm>
              <a:off x="0" y="-38100"/>
              <a:ext cx="4719282" cy="444828"/>
            </a:xfrm>
            <a:prstGeom prst="rect">
              <a:avLst/>
            </a:prstGeom>
          </p:spPr>
          <p:txBody>
            <a:bodyPr lIns="50800" tIns="50800" rIns="50800" bIns="50800" rtlCol="0" anchor="ctr"/>
            <a:lstStyle/>
            <a:p>
              <a:pPr algn="ctr">
                <a:lnSpc>
                  <a:spcPts val="2660"/>
                </a:lnSpc>
              </a:pPr>
            </a:p>
          </p:txBody>
        </p:sp>
      </p:grpSp>
      <p:sp>
        <p:nvSpPr>
          <p:cNvPr id="23" name="TextBox 23"/>
          <p:cNvSpPr txBox="1"/>
          <p:nvPr/>
        </p:nvSpPr>
        <p:spPr>
          <a:xfrm>
            <a:off x="149379" y="5779444"/>
            <a:ext cx="17430876" cy="2133213"/>
          </a:xfrm>
          <a:prstGeom prst="rect">
            <a:avLst/>
          </a:prstGeom>
        </p:spPr>
        <p:txBody>
          <a:bodyPr lIns="0" tIns="0" rIns="0" bIns="0" rtlCol="0" anchor="t">
            <a:spAutoFit/>
          </a:bodyPr>
          <a:lstStyle/>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Adds an additional layer of security.</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Limits damage caused by misconfigurations or compromised applications.</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Mitigates zero-day vulnerabilities.</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algn="just" rtl="1">
              <a:lnSpc>
                <a:spcPts val="4220"/>
              </a:lnSpc>
            </a:pPr>
          </a:p>
        </p:txBody>
      </p:sp>
      <p:grpSp>
        <p:nvGrpSpPr>
          <p:cNvPr id="24" name="Group 24"/>
          <p:cNvGrpSpPr/>
          <p:nvPr/>
        </p:nvGrpSpPr>
        <p:grpSpPr>
          <a:xfrm rot="0">
            <a:off x="202565" y="8169275"/>
            <a:ext cx="17216755" cy="1797685"/>
            <a:chOff x="0" y="0"/>
            <a:chExt cx="4719282" cy="473494"/>
          </a:xfrm>
        </p:grpSpPr>
        <p:sp>
          <p:nvSpPr>
            <p:cNvPr id="25" name="Freeform 25"/>
            <p:cNvSpPr/>
            <p:nvPr/>
          </p:nvSpPr>
          <p:spPr>
            <a:xfrm>
              <a:off x="0" y="0"/>
              <a:ext cx="4719282" cy="473494"/>
            </a:xfrm>
            <a:custGeom>
              <a:avLst/>
              <a:gdLst/>
              <a:ahLst/>
              <a:cxnLst/>
              <a:rect l="l" t="t" r="r" b="b"/>
              <a:pathLst>
                <a:path w="4719282" h="473494">
                  <a:moveTo>
                    <a:pt x="13394" y="0"/>
                  </a:moveTo>
                  <a:lnTo>
                    <a:pt x="4705888" y="0"/>
                  </a:lnTo>
                  <a:cubicBezTo>
                    <a:pt x="4713285" y="0"/>
                    <a:pt x="4719282" y="5997"/>
                    <a:pt x="4719282" y="13394"/>
                  </a:cubicBezTo>
                  <a:lnTo>
                    <a:pt x="4719282" y="460100"/>
                  </a:lnTo>
                  <a:cubicBezTo>
                    <a:pt x="4719282" y="463652"/>
                    <a:pt x="4717871" y="467059"/>
                    <a:pt x="4715359" y="469571"/>
                  </a:cubicBezTo>
                  <a:cubicBezTo>
                    <a:pt x="4712847" y="472083"/>
                    <a:pt x="4709440" y="473494"/>
                    <a:pt x="4705888" y="473494"/>
                  </a:cubicBezTo>
                  <a:lnTo>
                    <a:pt x="13394" y="473494"/>
                  </a:lnTo>
                  <a:cubicBezTo>
                    <a:pt x="5997" y="473494"/>
                    <a:pt x="0" y="467497"/>
                    <a:pt x="0" y="460100"/>
                  </a:cubicBezTo>
                  <a:lnTo>
                    <a:pt x="0" y="13394"/>
                  </a:lnTo>
                  <a:cubicBezTo>
                    <a:pt x="0" y="9842"/>
                    <a:pt x="1411" y="6435"/>
                    <a:pt x="3923" y="3923"/>
                  </a:cubicBezTo>
                  <a:cubicBezTo>
                    <a:pt x="6435" y="1411"/>
                    <a:pt x="9842" y="0"/>
                    <a:pt x="13394" y="0"/>
                  </a:cubicBezTo>
                  <a:close/>
                </a:path>
              </a:pathLst>
            </a:custGeom>
            <a:gradFill rotWithShape="1">
              <a:gsLst>
                <a:gs pos="0">
                  <a:srgbClr val="F83308">
                    <a:alpha val="100000"/>
                  </a:srgbClr>
                </a:gs>
                <a:gs pos="100000">
                  <a:srgbClr val="480B00">
                    <a:alpha val="100000"/>
                  </a:srgbClr>
                </a:gs>
              </a:gsLst>
              <a:path path="circle">
                <a:fillToRect l="50000" t="50000" r="50000" b="50000"/>
              </a:path>
            </a:gradFill>
          </p:spPr>
        </p:sp>
        <p:sp>
          <p:nvSpPr>
            <p:cNvPr id="26" name="TextBox 26"/>
            <p:cNvSpPr txBox="1"/>
            <p:nvPr/>
          </p:nvSpPr>
          <p:spPr>
            <a:xfrm>
              <a:off x="0" y="-38100"/>
              <a:ext cx="4719282" cy="511594"/>
            </a:xfrm>
            <a:prstGeom prst="rect">
              <a:avLst/>
            </a:prstGeom>
          </p:spPr>
          <p:txBody>
            <a:bodyPr lIns="50800" tIns="50800" rIns="50800" bIns="50800" rtlCol="0" anchor="ctr"/>
            <a:lstStyle/>
            <a:p>
              <a:pPr algn="ctr">
                <a:lnSpc>
                  <a:spcPts val="2660"/>
                </a:lnSpc>
              </a:pPr>
            </a:p>
          </p:txBody>
        </p:sp>
      </p:grpSp>
      <p:sp>
        <p:nvSpPr>
          <p:cNvPr id="27" name="TextBox 27"/>
          <p:cNvSpPr txBox="1"/>
          <p:nvPr/>
        </p:nvSpPr>
        <p:spPr>
          <a:xfrm>
            <a:off x="19685" y="8225155"/>
            <a:ext cx="15455265" cy="2164715"/>
          </a:xfrm>
          <a:prstGeom prst="rect">
            <a:avLst/>
          </a:prstGeom>
        </p:spPr>
        <p:txBody>
          <a:bodyPr wrap="square" lIns="0" tIns="0" rIns="0" bIns="0" rtlCol="0" anchor="t">
            <a:spAutoFit/>
          </a:bodyPr>
          <a:lstStyle/>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Mandatory Access Control (MAC): Restricts access based on security policies.</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Modes: Enforcing (active), Permissive (logs), or Disabled.</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Context-Based Security: Labels control file, process, and port access.</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algn="just" rtl="1">
              <a:lnSpc>
                <a:spcPts val="4220"/>
              </a:lnSpc>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0000">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3365358" y="-3350441"/>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sp>
        <p:nvSpPr>
          <p:cNvPr id="3" name="Freeform 3"/>
          <p:cNvSpPr/>
          <p:nvPr/>
        </p:nvSpPr>
        <p:spPr>
          <a:xfrm>
            <a:off x="-1907864" y="6708518"/>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grpSp>
        <p:nvGrpSpPr>
          <p:cNvPr id="4" name="Group 4"/>
          <p:cNvGrpSpPr/>
          <p:nvPr/>
        </p:nvGrpSpPr>
        <p:grpSpPr>
          <a:xfrm rot="0">
            <a:off x="17690482" y="8660782"/>
            <a:ext cx="597518" cy="597518"/>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FF0000">
                    <a:alpha val="100000"/>
                  </a:srgbClr>
                </a:gs>
                <a:gs pos="100000">
                  <a:srgbClr val="5E0000">
                    <a:alpha val="100000"/>
                  </a:srgbClr>
                </a:gs>
              </a:gsLst>
              <a:lin ang="2700000"/>
            </a:gradFill>
          </p:spPr>
        </p:sp>
        <p:sp>
          <p:nvSpPr>
            <p:cNvPr id="6" name="TextBox 6"/>
            <p:cNvSpPr txBox="1"/>
            <p:nvPr/>
          </p:nvSpPr>
          <p:spPr>
            <a:xfrm>
              <a:off x="0" y="-38100"/>
              <a:ext cx="812800" cy="850900"/>
            </a:xfrm>
            <a:prstGeom prst="rect">
              <a:avLst/>
            </a:prstGeom>
          </p:spPr>
          <p:txBody>
            <a:bodyPr lIns="50800" tIns="50800" rIns="50800" bIns="50800" rtlCol="0" anchor="ctr"/>
            <a:lstStyle/>
            <a:p>
              <a:pPr algn="ctr">
                <a:lnSpc>
                  <a:spcPts val="2660"/>
                </a:lnSpc>
              </a:pPr>
            </a:p>
          </p:txBody>
        </p:sp>
      </p:grpSp>
      <p:sp>
        <p:nvSpPr>
          <p:cNvPr id="7" name="Freeform 7"/>
          <p:cNvSpPr/>
          <p:nvPr/>
        </p:nvSpPr>
        <p:spPr>
          <a:xfrm flipH="1" flipV="1">
            <a:off x="17450371" y="454502"/>
            <a:ext cx="407026" cy="407026"/>
          </a:xfrm>
          <a:custGeom>
            <a:avLst/>
            <a:gdLst/>
            <a:ahLst/>
            <a:cxnLst/>
            <a:rect l="l" t="t" r="r" b="b"/>
            <a:pathLst>
              <a:path w="407026" h="407026">
                <a:moveTo>
                  <a:pt x="407025" y="407026"/>
                </a:moveTo>
                <a:lnTo>
                  <a:pt x="0" y="407026"/>
                </a:lnTo>
                <a:lnTo>
                  <a:pt x="0" y="0"/>
                </a:lnTo>
                <a:lnTo>
                  <a:pt x="407025" y="0"/>
                </a:lnTo>
                <a:lnTo>
                  <a:pt x="407025" y="40702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5202610" y="1059552"/>
            <a:ext cx="7882781" cy="7882781"/>
          </a:xfrm>
          <a:custGeom>
            <a:avLst/>
            <a:gdLst/>
            <a:ahLst/>
            <a:cxnLst/>
            <a:rect l="l" t="t" r="r" b="b"/>
            <a:pathLst>
              <a:path w="7882781" h="7882781">
                <a:moveTo>
                  <a:pt x="0" y="0"/>
                </a:moveTo>
                <a:lnTo>
                  <a:pt x="7882780" y="0"/>
                </a:lnTo>
                <a:lnTo>
                  <a:pt x="7882780" y="7882781"/>
                </a:lnTo>
                <a:lnTo>
                  <a:pt x="0" y="7882781"/>
                </a:lnTo>
                <a:lnTo>
                  <a:pt x="0" y="0"/>
                </a:lnTo>
                <a:close/>
              </a:path>
            </a:pathLst>
          </a:custGeom>
          <a:blipFill>
            <a:blip r:embed="rId1"/>
            <a:stretch>
              <a:fillRect/>
            </a:stretch>
          </a:blipFill>
        </p:spPr>
      </p:sp>
      <p:sp>
        <p:nvSpPr>
          <p:cNvPr id="9" name="TextBox 9"/>
          <p:cNvSpPr txBox="1"/>
          <p:nvPr/>
        </p:nvSpPr>
        <p:spPr>
          <a:xfrm>
            <a:off x="17857396" y="8851031"/>
            <a:ext cx="263689" cy="197971"/>
          </a:xfrm>
          <a:prstGeom prst="rect">
            <a:avLst/>
          </a:prstGeom>
        </p:spPr>
        <p:txBody>
          <a:bodyPr lIns="0" tIns="0" rIns="0" bIns="0" rtlCol="0" anchor="t">
            <a:spAutoFit/>
          </a:bodyPr>
          <a:lstStyle/>
          <a:p>
            <a:pPr algn="ctr">
              <a:lnSpc>
                <a:spcPts val="1680"/>
              </a:lnSpc>
              <a:spcBef>
                <a:spcPct val="0"/>
              </a:spcBef>
            </a:pPr>
            <a:r>
              <a:rPr lang="en-US" sz="1200" b="1">
                <a:solidFill>
                  <a:srgbClr val="FFFFFF"/>
                </a:solidFill>
                <a:latin typeface="Open Sans Bold"/>
                <a:ea typeface="Open Sans Bold"/>
                <a:cs typeface="Open Sans Bold"/>
                <a:sym typeface="Open Sans Bold"/>
              </a:rPr>
              <a:t>01</a:t>
            </a:r>
            <a:endParaRPr lang="en-US" sz="1200" b="1">
              <a:solidFill>
                <a:srgbClr val="FFFFFF"/>
              </a:solidFill>
              <a:latin typeface="Open Sans Bold"/>
              <a:ea typeface="Open Sans Bold"/>
              <a:cs typeface="Open Sans Bold"/>
              <a:sym typeface="Open Sans Bold"/>
            </a:endParaRPr>
          </a:p>
        </p:txBody>
      </p:sp>
      <p:sp>
        <p:nvSpPr>
          <p:cNvPr id="10" name="TextBox 10"/>
          <p:cNvSpPr txBox="1"/>
          <p:nvPr/>
        </p:nvSpPr>
        <p:spPr>
          <a:xfrm>
            <a:off x="202563" y="1028700"/>
            <a:ext cx="10694321" cy="896365"/>
          </a:xfrm>
          <a:prstGeom prst="rect">
            <a:avLst/>
          </a:prstGeom>
        </p:spPr>
        <p:txBody>
          <a:bodyPr lIns="0" tIns="0" rIns="0" bIns="0" rtlCol="0" anchor="t">
            <a:spAutoFit/>
          </a:bodyPr>
          <a:lstStyle/>
          <a:p>
            <a:pPr algn="l">
              <a:lnSpc>
                <a:spcPts val="7105"/>
              </a:lnSpc>
            </a:pPr>
            <a:r>
              <a:rPr lang="en-US" sz="5920">
                <a:solidFill>
                  <a:srgbClr val="FFFFFF"/>
                </a:solidFill>
                <a:latin typeface="Changa SemiBold" panose="00000700000000000000"/>
                <a:ea typeface="Changa SemiBold" panose="00000700000000000000"/>
                <a:cs typeface="Changa SemiBold" panose="00000700000000000000"/>
                <a:sym typeface="Changa SemiBold" panose="00000700000000000000"/>
              </a:rPr>
              <a:t>Securing Services with SELinux</a:t>
            </a:r>
            <a:endParaRPr lang="en-US" sz="5920">
              <a:solidFill>
                <a:srgbClr val="FFFFFF"/>
              </a:solidFill>
              <a:latin typeface="Changa SemiBold" panose="00000700000000000000"/>
              <a:ea typeface="Changa SemiBold" panose="00000700000000000000"/>
              <a:cs typeface="Changa SemiBold" panose="00000700000000000000"/>
              <a:sym typeface="Changa SemiBold" panose="00000700000000000000"/>
            </a:endParaRPr>
          </a:p>
        </p:txBody>
      </p:sp>
      <p:sp>
        <p:nvSpPr>
          <p:cNvPr id="11" name="TextBox 11"/>
          <p:cNvSpPr txBox="1"/>
          <p:nvPr/>
        </p:nvSpPr>
        <p:spPr>
          <a:xfrm>
            <a:off x="4871224" y="440845"/>
            <a:ext cx="5111081"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Red Hat System Security</a:t>
            </a:r>
            <a:endParaRPr lang="en-US" sz="2125">
              <a:solidFill>
                <a:srgbClr val="FFFFFF"/>
              </a:solidFill>
              <a:latin typeface="Open Sans"/>
              <a:ea typeface="Open Sans"/>
              <a:cs typeface="Open Sans"/>
              <a:sym typeface="Open Sans"/>
            </a:endParaRPr>
          </a:p>
        </p:txBody>
      </p:sp>
      <p:sp>
        <p:nvSpPr>
          <p:cNvPr id="12" name="TextBox 12"/>
          <p:cNvSpPr txBox="1"/>
          <p:nvPr/>
        </p:nvSpPr>
        <p:spPr>
          <a:xfrm>
            <a:off x="10860036" y="440845"/>
            <a:ext cx="2225355"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GTR 1ere Année</a:t>
            </a:r>
            <a:endParaRPr lang="en-US" sz="2125">
              <a:solidFill>
                <a:srgbClr val="FFFFFF"/>
              </a:solidFill>
              <a:latin typeface="Open Sans"/>
              <a:ea typeface="Open Sans"/>
              <a:cs typeface="Open Sans"/>
              <a:sym typeface="Open Sans"/>
            </a:endParaRPr>
          </a:p>
        </p:txBody>
      </p:sp>
      <p:sp>
        <p:nvSpPr>
          <p:cNvPr id="13" name="TextBox 13"/>
          <p:cNvSpPr txBox="1"/>
          <p:nvPr/>
        </p:nvSpPr>
        <p:spPr>
          <a:xfrm>
            <a:off x="462772" y="2221697"/>
            <a:ext cx="7095232" cy="845423"/>
          </a:xfrm>
          <a:prstGeom prst="rect">
            <a:avLst/>
          </a:prstGeom>
        </p:spPr>
        <p:txBody>
          <a:bodyPr lIns="0" tIns="0" rIns="0" bIns="0" rtlCol="0" anchor="t">
            <a:spAutoFit/>
          </a:bodyPr>
          <a:lstStyle/>
          <a:p>
            <a:pPr marL="1071880" lvl="1" indent="-535940" algn="l">
              <a:lnSpc>
                <a:spcPts val="6950"/>
              </a:lnSpc>
              <a:buFont typeface="Arial" panose="020B0604020202020204"/>
              <a:buChar char="•"/>
            </a:pPr>
            <a:r>
              <a:rPr lang="en-US" sz="4965" b="1">
                <a:solidFill>
                  <a:srgbClr val="FFFFFF"/>
                </a:solidFill>
                <a:latin typeface="Open Sans Bold"/>
                <a:ea typeface="Open Sans Bold"/>
                <a:cs typeface="Open Sans Bold"/>
                <a:sym typeface="Open Sans Bold"/>
              </a:rPr>
              <a:t>Practical Use Cases</a:t>
            </a:r>
            <a:endParaRPr lang="en-US" sz="4965" b="1">
              <a:solidFill>
                <a:srgbClr val="FFFFFF"/>
              </a:solidFill>
              <a:latin typeface="Open Sans Bold"/>
              <a:ea typeface="Open Sans Bold"/>
              <a:cs typeface="Open Sans Bold"/>
              <a:sym typeface="Open Sans Bold"/>
            </a:endParaRPr>
          </a:p>
        </p:txBody>
      </p:sp>
      <p:sp>
        <p:nvSpPr>
          <p:cNvPr id="14" name="TextBox 14"/>
          <p:cNvSpPr txBox="1"/>
          <p:nvPr/>
        </p:nvSpPr>
        <p:spPr>
          <a:xfrm>
            <a:off x="462772" y="4781621"/>
            <a:ext cx="8466088" cy="845423"/>
          </a:xfrm>
          <a:prstGeom prst="rect">
            <a:avLst/>
          </a:prstGeom>
        </p:spPr>
        <p:txBody>
          <a:bodyPr lIns="0" tIns="0" rIns="0" bIns="0" rtlCol="0" anchor="t">
            <a:spAutoFit/>
          </a:bodyPr>
          <a:lstStyle/>
          <a:p>
            <a:pPr marL="1071880" lvl="1" indent="-535940" algn="l">
              <a:lnSpc>
                <a:spcPts val="6950"/>
              </a:lnSpc>
              <a:buFont typeface="Arial" panose="020B0604020202020204"/>
              <a:buChar char="•"/>
            </a:pPr>
            <a:r>
              <a:rPr lang="en-US" sz="4965" b="1">
                <a:solidFill>
                  <a:srgbClr val="FFFFFF"/>
                </a:solidFill>
                <a:latin typeface="Open Sans Bold"/>
                <a:ea typeface="Open Sans Bold"/>
                <a:cs typeface="Open Sans Bold"/>
                <a:sym typeface="Open Sans Bold"/>
              </a:rPr>
              <a:t>Components of SELinux</a:t>
            </a:r>
            <a:endParaRPr lang="en-US" sz="4965" b="1">
              <a:solidFill>
                <a:srgbClr val="FFFFFF"/>
              </a:solidFill>
              <a:latin typeface="Open Sans Bold"/>
              <a:ea typeface="Open Sans Bold"/>
              <a:cs typeface="Open Sans Bold"/>
              <a:sym typeface="Open Sans Bold"/>
            </a:endParaRPr>
          </a:p>
        </p:txBody>
      </p:sp>
      <p:sp>
        <p:nvSpPr>
          <p:cNvPr id="15" name="TextBox 15"/>
          <p:cNvSpPr txBox="1"/>
          <p:nvPr/>
        </p:nvSpPr>
        <p:spPr>
          <a:xfrm>
            <a:off x="462772" y="7284394"/>
            <a:ext cx="4097982" cy="845423"/>
          </a:xfrm>
          <a:prstGeom prst="rect">
            <a:avLst/>
          </a:prstGeom>
        </p:spPr>
        <p:txBody>
          <a:bodyPr lIns="0" tIns="0" rIns="0" bIns="0" rtlCol="0" anchor="t">
            <a:spAutoFit/>
          </a:bodyPr>
          <a:lstStyle/>
          <a:p>
            <a:pPr marL="1071880" lvl="1" indent="-535940" algn="l">
              <a:lnSpc>
                <a:spcPts val="6950"/>
              </a:lnSpc>
              <a:buFont typeface="Arial" panose="020B0604020202020204"/>
              <a:buChar char="•"/>
            </a:pPr>
            <a:r>
              <a:rPr lang="en-US" sz="4965" b="1">
                <a:solidFill>
                  <a:srgbClr val="FFFFFF"/>
                </a:solidFill>
                <a:latin typeface="Open Sans Bold"/>
                <a:ea typeface="Open Sans Bold"/>
                <a:cs typeface="Open Sans Bold"/>
                <a:sym typeface="Open Sans Bold"/>
              </a:rPr>
              <a:t>Summary</a:t>
            </a:r>
            <a:endParaRPr lang="en-US" sz="4965" b="1">
              <a:solidFill>
                <a:srgbClr val="FFFFFF"/>
              </a:solidFill>
              <a:latin typeface="Open Sans Bold"/>
              <a:ea typeface="Open Sans Bold"/>
              <a:cs typeface="Open Sans Bold"/>
              <a:sym typeface="Open Sans Bold"/>
            </a:endParaRPr>
          </a:p>
        </p:txBody>
      </p:sp>
      <p:grpSp>
        <p:nvGrpSpPr>
          <p:cNvPr id="16" name="Group 16"/>
          <p:cNvGrpSpPr/>
          <p:nvPr/>
        </p:nvGrpSpPr>
        <p:grpSpPr>
          <a:xfrm rot="0">
            <a:off x="202563" y="5844874"/>
            <a:ext cx="17918523" cy="1544295"/>
            <a:chOff x="0" y="0"/>
            <a:chExt cx="4719282" cy="406728"/>
          </a:xfrm>
        </p:grpSpPr>
        <p:sp>
          <p:nvSpPr>
            <p:cNvPr id="17" name="Freeform 17"/>
            <p:cNvSpPr/>
            <p:nvPr/>
          </p:nvSpPr>
          <p:spPr>
            <a:xfrm>
              <a:off x="0" y="0"/>
              <a:ext cx="4719282" cy="406728"/>
            </a:xfrm>
            <a:custGeom>
              <a:avLst/>
              <a:gdLst/>
              <a:ahLst/>
              <a:cxnLst/>
              <a:rect l="l" t="t" r="r" b="b"/>
              <a:pathLst>
                <a:path w="4719282" h="406728">
                  <a:moveTo>
                    <a:pt x="13394" y="0"/>
                  </a:moveTo>
                  <a:lnTo>
                    <a:pt x="4705888" y="0"/>
                  </a:lnTo>
                  <a:cubicBezTo>
                    <a:pt x="4713285" y="0"/>
                    <a:pt x="4719282" y="5997"/>
                    <a:pt x="4719282" y="13394"/>
                  </a:cubicBezTo>
                  <a:lnTo>
                    <a:pt x="4719282" y="393334"/>
                  </a:lnTo>
                  <a:cubicBezTo>
                    <a:pt x="4719282" y="396886"/>
                    <a:pt x="4717871" y="400293"/>
                    <a:pt x="4715359" y="402805"/>
                  </a:cubicBezTo>
                  <a:cubicBezTo>
                    <a:pt x="4712847" y="405317"/>
                    <a:pt x="4709440" y="406728"/>
                    <a:pt x="4705888" y="406728"/>
                  </a:cubicBezTo>
                  <a:lnTo>
                    <a:pt x="13394" y="406728"/>
                  </a:lnTo>
                  <a:cubicBezTo>
                    <a:pt x="9842" y="406728"/>
                    <a:pt x="6435" y="405317"/>
                    <a:pt x="3923" y="402805"/>
                  </a:cubicBezTo>
                  <a:cubicBezTo>
                    <a:pt x="1411" y="400293"/>
                    <a:pt x="0" y="396886"/>
                    <a:pt x="0" y="393334"/>
                  </a:cubicBezTo>
                  <a:lnTo>
                    <a:pt x="0" y="13394"/>
                  </a:lnTo>
                  <a:cubicBezTo>
                    <a:pt x="0" y="9842"/>
                    <a:pt x="1411" y="6435"/>
                    <a:pt x="3923" y="3923"/>
                  </a:cubicBezTo>
                  <a:cubicBezTo>
                    <a:pt x="6435" y="1411"/>
                    <a:pt x="9842" y="0"/>
                    <a:pt x="13394" y="0"/>
                  </a:cubicBezTo>
                  <a:close/>
                </a:path>
              </a:pathLst>
            </a:custGeom>
            <a:gradFill rotWithShape="1">
              <a:gsLst>
                <a:gs pos="0">
                  <a:srgbClr val="F83308">
                    <a:alpha val="100000"/>
                  </a:srgbClr>
                </a:gs>
                <a:gs pos="100000">
                  <a:srgbClr val="480B00">
                    <a:alpha val="100000"/>
                  </a:srgbClr>
                </a:gs>
              </a:gsLst>
              <a:path path="circle">
                <a:fillToRect l="50000" t="50000" r="50000" b="50000"/>
              </a:path>
            </a:gradFill>
          </p:spPr>
        </p:sp>
        <p:sp>
          <p:nvSpPr>
            <p:cNvPr id="18" name="TextBox 18"/>
            <p:cNvSpPr txBox="1"/>
            <p:nvPr/>
          </p:nvSpPr>
          <p:spPr>
            <a:xfrm>
              <a:off x="0" y="-38100"/>
              <a:ext cx="4719282" cy="444828"/>
            </a:xfrm>
            <a:prstGeom prst="rect">
              <a:avLst/>
            </a:prstGeom>
          </p:spPr>
          <p:txBody>
            <a:bodyPr lIns="50800" tIns="50800" rIns="50800" bIns="50800" rtlCol="0" anchor="ctr"/>
            <a:lstStyle/>
            <a:p>
              <a:pPr algn="ctr">
                <a:lnSpc>
                  <a:spcPts val="2660"/>
                </a:lnSpc>
              </a:pPr>
            </a:p>
          </p:txBody>
        </p:sp>
      </p:grpSp>
      <p:sp>
        <p:nvSpPr>
          <p:cNvPr id="19" name="TextBox 19"/>
          <p:cNvSpPr txBox="1"/>
          <p:nvPr/>
        </p:nvSpPr>
        <p:spPr>
          <a:xfrm>
            <a:off x="149379" y="5779444"/>
            <a:ext cx="17430876" cy="2133213"/>
          </a:xfrm>
          <a:prstGeom prst="rect">
            <a:avLst/>
          </a:prstGeom>
        </p:spPr>
        <p:txBody>
          <a:bodyPr lIns="0" tIns="0" rIns="0" bIns="0" rtlCol="0" anchor="t">
            <a:spAutoFit/>
          </a:bodyPr>
          <a:lstStyle/>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Security Policies: Rules defining access permissions.</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Contexts: Labels applied to files, processes, and ports.</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Tools: setenforce, getenforce, semanage, restorecon.</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algn="just" rtl="1">
              <a:lnSpc>
                <a:spcPts val="4220"/>
              </a:lnSpc>
            </a:pPr>
          </a:p>
        </p:txBody>
      </p:sp>
      <p:grpSp>
        <p:nvGrpSpPr>
          <p:cNvPr id="20" name="Group 20"/>
          <p:cNvGrpSpPr/>
          <p:nvPr/>
        </p:nvGrpSpPr>
        <p:grpSpPr>
          <a:xfrm rot="0">
            <a:off x="202563" y="8169153"/>
            <a:ext cx="17918523" cy="1797797"/>
            <a:chOff x="0" y="0"/>
            <a:chExt cx="4719282" cy="473494"/>
          </a:xfrm>
        </p:grpSpPr>
        <p:sp>
          <p:nvSpPr>
            <p:cNvPr id="21" name="Freeform 21"/>
            <p:cNvSpPr/>
            <p:nvPr/>
          </p:nvSpPr>
          <p:spPr>
            <a:xfrm>
              <a:off x="0" y="0"/>
              <a:ext cx="4719282" cy="473494"/>
            </a:xfrm>
            <a:custGeom>
              <a:avLst/>
              <a:gdLst/>
              <a:ahLst/>
              <a:cxnLst/>
              <a:rect l="l" t="t" r="r" b="b"/>
              <a:pathLst>
                <a:path w="4719282" h="473494">
                  <a:moveTo>
                    <a:pt x="13394" y="0"/>
                  </a:moveTo>
                  <a:lnTo>
                    <a:pt x="4705888" y="0"/>
                  </a:lnTo>
                  <a:cubicBezTo>
                    <a:pt x="4713285" y="0"/>
                    <a:pt x="4719282" y="5997"/>
                    <a:pt x="4719282" y="13394"/>
                  </a:cubicBezTo>
                  <a:lnTo>
                    <a:pt x="4719282" y="460100"/>
                  </a:lnTo>
                  <a:cubicBezTo>
                    <a:pt x="4719282" y="463652"/>
                    <a:pt x="4717871" y="467059"/>
                    <a:pt x="4715359" y="469571"/>
                  </a:cubicBezTo>
                  <a:cubicBezTo>
                    <a:pt x="4712847" y="472083"/>
                    <a:pt x="4709440" y="473494"/>
                    <a:pt x="4705888" y="473494"/>
                  </a:cubicBezTo>
                  <a:lnTo>
                    <a:pt x="13394" y="473494"/>
                  </a:lnTo>
                  <a:cubicBezTo>
                    <a:pt x="5997" y="473494"/>
                    <a:pt x="0" y="467497"/>
                    <a:pt x="0" y="460100"/>
                  </a:cubicBezTo>
                  <a:lnTo>
                    <a:pt x="0" y="13394"/>
                  </a:lnTo>
                  <a:cubicBezTo>
                    <a:pt x="0" y="9842"/>
                    <a:pt x="1411" y="6435"/>
                    <a:pt x="3923" y="3923"/>
                  </a:cubicBezTo>
                  <a:cubicBezTo>
                    <a:pt x="6435" y="1411"/>
                    <a:pt x="9842" y="0"/>
                    <a:pt x="13394" y="0"/>
                  </a:cubicBezTo>
                  <a:close/>
                </a:path>
              </a:pathLst>
            </a:custGeom>
            <a:gradFill rotWithShape="1">
              <a:gsLst>
                <a:gs pos="0">
                  <a:srgbClr val="F83308">
                    <a:alpha val="100000"/>
                  </a:srgbClr>
                </a:gs>
                <a:gs pos="100000">
                  <a:srgbClr val="480B00">
                    <a:alpha val="100000"/>
                  </a:srgbClr>
                </a:gs>
              </a:gsLst>
              <a:path path="circle">
                <a:fillToRect l="50000" t="50000" r="50000" b="50000"/>
              </a:path>
            </a:gradFill>
          </p:spPr>
        </p:sp>
        <p:sp>
          <p:nvSpPr>
            <p:cNvPr id="22" name="TextBox 22"/>
            <p:cNvSpPr txBox="1"/>
            <p:nvPr/>
          </p:nvSpPr>
          <p:spPr>
            <a:xfrm>
              <a:off x="0" y="-38100"/>
              <a:ext cx="4719282" cy="511594"/>
            </a:xfrm>
            <a:prstGeom prst="rect">
              <a:avLst/>
            </a:prstGeom>
          </p:spPr>
          <p:txBody>
            <a:bodyPr lIns="50800" tIns="50800" rIns="50800" bIns="50800" rtlCol="0" anchor="ctr"/>
            <a:lstStyle/>
            <a:p>
              <a:pPr algn="ctr">
                <a:lnSpc>
                  <a:spcPts val="2660"/>
                </a:lnSpc>
              </a:pPr>
            </a:p>
          </p:txBody>
        </p:sp>
      </p:grpSp>
      <p:sp>
        <p:nvSpPr>
          <p:cNvPr id="23" name="TextBox 23"/>
          <p:cNvSpPr txBox="1"/>
          <p:nvPr/>
        </p:nvSpPr>
        <p:spPr>
          <a:xfrm>
            <a:off x="19494" y="8225067"/>
            <a:ext cx="17430876" cy="2140823"/>
          </a:xfrm>
          <a:prstGeom prst="rect">
            <a:avLst/>
          </a:prstGeom>
        </p:spPr>
        <p:txBody>
          <a:bodyPr lIns="0" tIns="0" rIns="0" bIns="0" rtlCol="0" anchor="t">
            <a:spAutoFit/>
          </a:bodyPr>
          <a:lstStyle/>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SELinux enforces strict security policies using Mandatory Access Control (MAC).</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It limits access to files, processes, and ports to reduce risks from attacks.</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Operates in Enforcing, Permissive, or Disabled modes for flexibility.</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algn="just" rtl="1">
              <a:lnSpc>
                <a:spcPts val="4220"/>
              </a:lnSpc>
            </a:pPr>
          </a:p>
        </p:txBody>
      </p:sp>
      <p:grpSp>
        <p:nvGrpSpPr>
          <p:cNvPr id="24" name="Group 24"/>
          <p:cNvGrpSpPr/>
          <p:nvPr/>
        </p:nvGrpSpPr>
        <p:grpSpPr>
          <a:xfrm rot="0">
            <a:off x="255746" y="3238571"/>
            <a:ext cx="17918523" cy="1544295"/>
            <a:chOff x="0" y="0"/>
            <a:chExt cx="4719282" cy="406728"/>
          </a:xfrm>
        </p:grpSpPr>
        <p:sp>
          <p:nvSpPr>
            <p:cNvPr id="25" name="Freeform 25"/>
            <p:cNvSpPr/>
            <p:nvPr/>
          </p:nvSpPr>
          <p:spPr>
            <a:xfrm>
              <a:off x="0" y="0"/>
              <a:ext cx="4719282" cy="406728"/>
            </a:xfrm>
            <a:custGeom>
              <a:avLst/>
              <a:gdLst/>
              <a:ahLst/>
              <a:cxnLst/>
              <a:rect l="l" t="t" r="r" b="b"/>
              <a:pathLst>
                <a:path w="4719282" h="406728">
                  <a:moveTo>
                    <a:pt x="13394" y="0"/>
                  </a:moveTo>
                  <a:lnTo>
                    <a:pt x="4705888" y="0"/>
                  </a:lnTo>
                  <a:cubicBezTo>
                    <a:pt x="4713285" y="0"/>
                    <a:pt x="4719282" y="5997"/>
                    <a:pt x="4719282" y="13394"/>
                  </a:cubicBezTo>
                  <a:lnTo>
                    <a:pt x="4719282" y="393334"/>
                  </a:lnTo>
                  <a:cubicBezTo>
                    <a:pt x="4719282" y="396886"/>
                    <a:pt x="4717871" y="400293"/>
                    <a:pt x="4715359" y="402805"/>
                  </a:cubicBezTo>
                  <a:cubicBezTo>
                    <a:pt x="4712847" y="405317"/>
                    <a:pt x="4709440" y="406728"/>
                    <a:pt x="4705888" y="406728"/>
                  </a:cubicBezTo>
                  <a:lnTo>
                    <a:pt x="13394" y="406728"/>
                  </a:lnTo>
                  <a:cubicBezTo>
                    <a:pt x="9842" y="406728"/>
                    <a:pt x="6435" y="405317"/>
                    <a:pt x="3923" y="402805"/>
                  </a:cubicBezTo>
                  <a:cubicBezTo>
                    <a:pt x="1411" y="400293"/>
                    <a:pt x="0" y="396886"/>
                    <a:pt x="0" y="393334"/>
                  </a:cubicBezTo>
                  <a:lnTo>
                    <a:pt x="0" y="13394"/>
                  </a:lnTo>
                  <a:cubicBezTo>
                    <a:pt x="0" y="9842"/>
                    <a:pt x="1411" y="6435"/>
                    <a:pt x="3923" y="3923"/>
                  </a:cubicBezTo>
                  <a:cubicBezTo>
                    <a:pt x="6435" y="1411"/>
                    <a:pt x="9842" y="0"/>
                    <a:pt x="13394" y="0"/>
                  </a:cubicBezTo>
                  <a:close/>
                </a:path>
              </a:pathLst>
            </a:custGeom>
            <a:gradFill rotWithShape="1">
              <a:gsLst>
                <a:gs pos="0">
                  <a:srgbClr val="F83308">
                    <a:alpha val="100000"/>
                  </a:srgbClr>
                </a:gs>
                <a:gs pos="100000">
                  <a:srgbClr val="480B00">
                    <a:alpha val="100000"/>
                  </a:srgbClr>
                </a:gs>
              </a:gsLst>
              <a:path path="circle">
                <a:fillToRect l="50000" t="50000" r="50000" b="50000"/>
              </a:path>
            </a:gradFill>
          </p:spPr>
        </p:sp>
        <p:sp>
          <p:nvSpPr>
            <p:cNvPr id="26" name="TextBox 26"/>
            <p:cNvSpPr txBox="1"/>
            <p:nvPr/>
          </p:nvSpPr>
          <p:spPr>
            <a:xfrm>
              <a:off x="0" y="-38100"/>
              <a:ext cx="4719282" cy="444828"/>
            </a:xfrm>
            <a:prstGeom prst="rect">
              <a:avLst/>
            </a:prstGeom>
          </p:spPr>
          <p:txBody>
            <a:bodyPr lIns="50800" tIns="50800" rIns="50800" bIns="50800" rtlCol="0" anchor="ctr"/>
            <a:lstStyle/>
            <a:p>
              <a:pPr algn="ctr">
                <a:lnSpc>
                  <a:spcPts val="2660"/>
                </a:lnSpc>
              </a:pPr>
            </a:p>
          </p:txBody>
        </p:sp>
      </p:grpSp>
      <p:sp>
        <p:nvSpPr>
          <p:cNvPr id="27" name="TextBox 27"/>
          <p:cNvSpPr txBox="1"/>
          <p:nvPr/>
        </p:nvSpPr>
        <p:spPr>
          <a:xfrm>
            <a:off x="202563" y="3173141"/>
            <a:ext cx="17430876" cy="2133213"/>
          </a:xfrm>
          <a:prstGeom prst="rect">
            <a:avLst/>
          </a:prstGeom>
        </p:spPr>
        <p:txBody>
          <a:bodyPr lIns="0" tIns="0" rIns="0" bIns="0" rtlCol="0" anchor="t">
            <a:spAutoFit/>
          </a:bodyPr>
          <a:lstStyle/>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Web Server Isolation: Restrict a web server to access only required files.</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Secure Containers: Enforcing security for containerized environments.</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Compliance: Meeting regulatory security requirements.</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algn="just" rtl="1">
              <a:lnSpc>
                <a:spcPts val="4220"/>
              </a:lnSpc>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0000">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3365358" y="-3350441"/>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sp>
        <p:nvSpPr>
          <p:cNvPr id="3" name="Freeform 3"/>
          <p:cNvSpPr/>
          <p:nvPr/>
        </p:nvSpPr>
        <p:spPr>
          <a:xfrm>
            <a:off x="-1907864" y="6708518"/>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grpSp>
        <p:nvGrpSpPr>
          <p:cNvPr id="4" name="Group 4"/>
          <p:cNvGrpSpPr/>
          <p:nvPr/>
        </p:nvGrpSpPr>
        <p:grpSpPr>
          <a:xfrm rot="0">
            <a:off x="17690482" y="8660782"/>
            <a:ext cx="597518" cy="597518"/>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FF0000">
                    <a:alpha val="100000"/>
                  </a:srgbClr>
                </a:gs>
                <a:gs pos="100000">
                  <a:srgbClr val="5E0000">
                    <a:alpha val="100000"/>
                  </a:srgbClr>
                </a:gs>
              </a:gsLst>
              <a:lin ang="2700000"/>
            </a:gradFill>
          </p:spPr>
        </p:sp>
        <p:sp>
          <p:nvSpPr>
            <p:cNvPr id="6" name="TextBox 6"/>
            <p:cNvSpPr txBox="1"/>
            <p:nvPr/>
          </p:nvSpPr>
          <p:spPr>
            <a:xfrm>
              <a:off x="0" y="-38100"/>
              <a:ext cx="812800" cy="850900"/>
            </a:xfrm>
            <a:prstGeom prst="rect">
              <a:avLst/>
            </a:prstGeom>
          </p:spPr>
          <p:txBody>
            <a:bodyPr lIns="50800" tIns="50800" rIns="50800" bIns="50800" rtlCol="0" anchor="ctr"/>
            <a:lstStyle/>
            <a:p>
              <a:pPr algn="ctr">
                <a:lnSpc>
                  <a:spcPts val="2660"/>
                </a:lnSpc>
              </a:pPr>
            </a:p>
          </p:txBody>
        </p:sp>
      </p:grpSp>
      <p:sp>
        <p:nvSpPr>
          <p:cNvPr id="7" name="Freeform 7"/>
          <p:cNvSpPr/>
          <p:nvPr/>
        </p:nvSpPr>
        <p:spPr>
          <a:xfrm flipH="1" flipV="1">
            <a:off x="17450371" y="454502"/>
            <a:ext cx="407026" cy="407026"/>
          </a:xfrm>
          <a:custGeom>
            <a:avLst/>
            <a:gdLst/>
            <a:ahLst/>
            <a:cxnLst/>
            <a:rect l="l" t="t" r="r" b="b"/>
            <a:pathLst>
              <a:path w="407026" h="407026">
                <a:moveTo>
                  <a:pt x="407025" y="407026"/>
                </a:moveTo>
                <a:lnTo>
                  <a:pt x="0" y="407026"/>
                </a:lnTo>
                <a:lnTo>
                  <a:pt x="0" y="0"/>
                </a:lnTo>
                <a:lnTo>
                  <a:pt x="407025" y="0"/>
                </a:lnTo>
                <a:lnTo>
                  <a:pt x="407025" y="40702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5202610" y="1202110"/>
            <a:ext cx="7882781" cy="7882781"/>
          </a:xfrm>
          <a:custGeom>
            <a:avLst/>
            <a:gdLst/>
            <a:ahLst/>
            <a:cxnLst/>
            <a:rect l="l" t="t" r="r" b="b"/>
            <a:pathLst>
              <a:path w="7882781" h="7882781">
                <a:moveTo>
                  <a:pt x="0" y="0"/>
                </a:moveTo>
                <a:lnTo>
                  <a:pt x="7882780" y="0"/>
                </a:lnTo>
                <a:lnTo>
                  <a:pt x="7882780" y="7882780"/>
                </a:lnTo>
                <a:lnTo>
                  <a:pt x="0" y="7882780"/>
                </a:lnTo>
                <a:lnTo>
                  <a:pt x="0" y="0"/>
                </a:lnTo>
                <a:close/>
              </a:path>
            </a:pathLst>
          </a:custGeom>
          <a:blipFill>
            <a:blip r:embed="rId1"/>
            <a:stretch>
              <a:fillRect/>
            </a:stretch>
          </a:blipFill>
        </p:spPr>
      </p:sp>
      <p:sp>
        <p:nvSpPr>
          <p:cNvPr id="9" name="TextBox 9"/>
          <p:cNvSpPr txBox="1"/>
          <p:nvPr/>
        </p:nvSpPr>
        <p:spPr>
          <a:xfrm>
            <a:off x="4871224" y="440845"/>
            <a:ext cx="5111081"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Red Hat System Security</a:t>
            </a:r>
            <a:endParaRPr lang="en-US" sz="2125">
              <a:solidFill>
                <a:srgbClr val="FFFFFF"/>
              </a:solidFill>
              <a:latin typeface="Open Sans"/>
              <a:ea typeface="Open Sans"/>
              <a:cs typeface="Open Sans"/>
              <a:sym typeface="Open Sans"/>
            </a:endParaRPr>
          </a:p>
        </p:txBody>
      </p:sp>
      <p:sp>
        <p:nvSpPr>
          <p:cNvPr id="10" name="TextBox 10"/>
          <p:cNvSpPr txBox="1"/>
          <p:nvPr/>
        </p:nvSpPr>
        <p:spPr>
          <a:xfrm>
            <a:off x="10860036" y="440845"/>
            <a:ext cx="2225355"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GTR 1ere Année</a:t>
            </a:r>
            <a:endParaRPr lang="en-US" sz="2125">
              <a:solidFill>
                <a:srgbClr val="FFFFFF"/>
              </a:solidFill>
              <a:latin typeface="Open Sans"/>
              <a:ea typeface="Open Sans"/>
              <a:cs typeface="Open Sans"/>
              <a:sym typeface="Open Sans"/>
            </a:endParaRPr>
          </a:p>
        </p:txBody>
      </p:sp>
      <p:sp>
        <p:nvSpPr>
          <p:cNvPr id="11" name="TextBox 11"/>
          <p:cNvSpPr txBox="1"/>
          <p:nvPr/>
        </p:nvSpPr>
        <p:spPr>
          <a:xfrm>
            <a:off x="17857396" y="8851031"/>
            <a:ext cx="263689" cy="215265"/>
          </a:xfrm>
          <a:prstGeom prst="rect">
            <a:avLst/>
          </a:prstGeom>
        </p:spPr>
        <p:txBody>
          <a:bodyPr lIns="0" tIns="0" rIns="0" bIns="0" rtlCol="0" anchor="t">
            <a:spAutoFit/>
          </a:bodyPr>
          <a:lstStyle/>
          <a:p>
            <a:pPr algn="ctr">
              <a:lnSpc>
                <a:spcPts val="1680"/>
              </a:lnSpc>
              <a:spcBef>
                <a:spcPct val="0"/>
              </a:spcBef>
            </a:pPr>
            <a:r>
              <a:rPr lang="en-US" sz="1200" b="1">
                <a:solidFill>
                  <a:srgbClr val="FFFFFF"/>
                </a:solidFill>
                <a:latin typeface="Open Sans Bold"/>
                <a:ea typeface="Open Sans Bold"/>
                <a:cs typeface="Open Sans Bold"/>
                <a:sym typeface="Open Sans Bold"/>
              </a:rPr>
              <a:t>0</a:t>
            </a:r>
            <a:r>
              <a:rPr lang="fr-FR" altLang="en-US" sz="1200" b="1">
                <a:solidFill>
                  <a:srgbClr val="FFFFFF"/>
                </a:solidFill>
                <a:latin typeface="Open Sans Bold"/>
                <a:ea typeface="Open Sans Bold"/>
                <a:cs typeface="Open Sans Bold"/>
                <a:sym typeface="Open Sans Bold"/>
              </a:rPr>
              <a:t>8</a:t>
            </a:r>
            <a:endParaRPr lang="fr-FR" altLang="en-US" sz="1200" b="1">
              <a:solidFill>
                <a:srgbClr val="FFFFFF"/>
              </a:solidFill>
              <a:latin typeface="Open Sans Bold"/>
              <a:ea typeface="Open Sans Bold"/>
              <a:cs typeface="Open Sans Bold"/>
              <a:sym typeface="Open Sans Bold"/>
            </a:endParaRPr>
          </a:p>
        </p:txBody>
      </p:sp>
      <p:sp>
        <p:nvSpPr>
          <p:cNvPr id="12" name="TextBox 12"/>
          <p:cNvSpPr txBox="1"/>
          <p:nvPr/>
        </p:nvSpPr>
        <p:spPr>
          <a:xfrm>
            <a:off x="4571984" y="3701178"/>
            <a:ext cx="9144033" cy="2884643"/>
          </a:xfrm>
          <a:prstGeom prst="rect">
            <a:avLst/>
          </a:prstGeom>
        </p:spPr>
        <p:txBody>
          <a:bodyPr lIns="0" tIns="0" rIns="0" bIns="0" rtlCol="0" anchor="t">
            <a:spAutoFit/>
          </a:bodyPr>
          <a:lstStyle/>
          <a:p>
            <a:pPr algn="ctr">
              <a:lnSpc>
                <a:spcPts val="11435"/>
              </a:lnSpc>
            </a:pPr>
            <a:r>
              <a:rPr lang="en-US" sz="9530">
                <a:solidFill>
                  <a:srgbClr val="FFFFFF"/>
                </a:solidFill>
                <a:latin typeface="Changa SemiBold" panose="00000700000000000000"/>
                <a:ea typeface="Changa SemiBold" panose="00000700000000000000"/>
                <a:cs typeface="Changa SemiBold" panose="00000700000000000000"/>
                <a:sym typeface="Changa SemiBold" panose="00000700000000000000"/>
              </a:rPr>
              <a:t>SSH FOR SECURE CONNECTIONS</a:t>
            </a:r>
            <a:endParaRPr lang="en-US" sz="9530">
              <a:solidFill>
                <a:srgbClr val="FFFFFF"/>
              </a:solidFill>
              <a:latin typeface="Changa SemiBold" panose="00000700000000000000"/>
              <a:ea typeface="Changa SemiBold" panose="00000700000000000000"/>
              <a:cs typeface="Changa SemiBold" panose="00000700000000000000"/>
              <a:sym typeface="Changa SemiBold" panose="00000700000000000000"/>
            </a:endParaRPr>
          </a:p>
        </p:txBody>
      </p:sp>
      <p:sp>
        <p:nvSpPr>
          <p:cNvPr id="13" name="TextBox 13"/>
          <p:cNvSpPr txBox="1"/>
          <p:nvPr/>
        </p:nvSpPr>
        <p:spPr>
          <a:xfrm>
            <a:off x="202563" y="9599240"/>
            <a:ext cx="10247699" cy="589280"/>
          </a:xfrm>
          <a:prstGeom prst="rect">
            <a:avLst/>
          </a:prstGeom>
        </p:spPr>
        <p:txBody>
          <a:bodyPr lIns="0" tIns="0" rIns="0" bIns="0" rtlCol="0" anchor="t">
            <a:spAutoFit/>
          </a:bodyPr>
          <a:lstStyle/>
          <a:p>
            <a:pPr algn="l">
              <a:lnSpc>
                <a:spcPts val="4360"/>
              </a:lnSpc>
            </a:pPr>
            <a:r>
              <a:rPr lang="en-US" sz="4000" b="1">
                <a:solidFill>
                  <a:srgbClr val="FFFFFF"/>
                </a:solidFill>
                <a:latin typeface="Bebas Neue Bold" panose="020B0606020202050201"/>
                <a:ea typeface="Bebas Neue Bold" panose="020B0606020202050201"/>
                <a:cs typeface="Bebas Neue Bold" panose="020B0606020202050201"/>
                <a:sym typeface="Bebas Neue Bold" panose="020B0606020202050201"/>
              </a:rPr>
              <a:t>PRESENTED BY : HAYTHAM</a:t>
            </a:r>
            <a:endParaRPr lang="en-US" sz="4000" b="1">
              <a:solidFill>
                <a:srgbClr val="FFFFFF"/>
              </a:solidFill>
              <a:latin typeface="Bebas Neue Bold" panose="020B0606020202050201"/>
              <a:ea typeface="Bebas Neue Bold" panose="020B0606020202050201"/>
              <a:cs typeface="Bebas Neue Bold" panose="020B0606020202050201"/>
              <a:sym typeface="Bebas Neue Bold" panose="020B0606020202050201"/>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0000">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3365358" y="-3350441"/>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sp>
        <p:nvSpPr>
          <p:cNvPr id="3" name="Freeform 3"/>
          <p:cNvSpPr/>
          <p:nvPr/>
        </p:nvSpPr>
        <p:spPr>
          <a:xfrm>
            <a:off x="-1907864" y="6708518"/>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grpSp>
        <p:nvGrpSpPr>
          <p:cNvPr id="4" name="Group 4"/>
          <p:cNvGrpSpPr/>
          <p:nvPr/>
        </p:nvGrpSpPr>
        <p:grpSpPr>
          <a:xfrm rot="0">
            <a:off x="17690482" y="8660782"/>
            <a:ext cx="597518" cy="597518"/>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FF0000">
                    <a:alpha val="100000"/>
                  </a:srgbClr>
                </a:gs>
                <a:gs pos="100000">
                  <a:srgbClr val="5E0000">
                    <a:alpha val="100000"/>
                  </a:srgbClr>
                </a:gs>
              </a:gsLst>
              <a:lin ang="2700000"/>
            </a:gradFill>
          </p:spPr>
        </p:sp>
        <p:sp>
          <p:nvSpPr>
            <p:cNvPr id="6" name="TextBox 6"/>
            <p:cNvSpPr txBox="1"/>
            <p:nvPr/>
          </p:nvSpPr>
          <p:spPr>
            <a:xfrm>
              <a:off x="0" y="-38100"/>
              <a:ext cx="812800" cy="850900"/>
            </a:xfrm>
            <a:prstGeom prst="rect">
              <a:avLst/>
            </a:prstGeom>
          </p:spPr>
          <p:txBody>
            <a:bodyPr lIns="50800" tIns="50800" rIns="50800" bIns="50800" rtlCol="0" anchor="ctr"/>
            <a:lstStyle/>
            <a:p>
              <a:pPr algn="ctr">
                <a:lnSpc>
                  <a:spcPts val="2660"/>
                </a:lnSpc>
              </a:pPr>
            </a:p>
          </p:txBody>
        </p:sp>
      </p:grpSp>
      <p:sp>
        <p:nvSpPr>
          <p:cNvPr id="7" name="Freeform 7"/>
          <p:cNvSpPr/>
          <p:nvPr/>
        </p:nvSpPr>
        <p:spPr>
          <a:xfrm flipH="1" flipV="1">
            <a:off x="17450371" y="454502"/>
            <a:ext cx="407026" cy="407026"/>
          </a:xfrm>
          <a:custGeom>
            <a:avLst/>
            <a:gdLst/>
            <a:ahLst/>
            <a:cxnLst/>
            <a:rect l="l" t="t" r="r" b="b"/>
            <a:pathLst>
              <a:path w="407026" h="407026">
                <a:moveTo>
                  <a:pt x="407025" y="407026"/>
                </a:moveTo>
                <a:lnTo>
                  <a:pt x="0" y="407026"/>
                </a:lnTo>
                <a:lnTo>
                  <a:pt x="0" y="0"/>
                </a:lnTo>
                <a:lnTo>
                  <a:pt x="407025" y="0"/>
                </a:lnTo>
                <a:lnTo>
                  <a:pt x="407025" y="40702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5202610" y="1059552"/>
            <a:ext cx="7882781" cy="7882781"/>
          </a:xfrm>
          <a:custGeom>
            <a:avLst/>
            <a:gdLst/>
            <a:ahLst/>
            <a:cxnLst/>
            <a:rect l="l" t="t" r="r" b="b"/>
            <a:pathLst>
              <a:path w="7882781" h="7882781">
                <a:moveTo>
                  <a:pt x="0" y="0"/>
                </a:moveTo>
                <a:lnTo>
                  <a:pt x="7882780" y="0"/>
                </a:lnTo>
                <a:lnTo>
                  <a:pt x="7882780" y="7882781"/>
                </a:lnTo>
                <a:lnTo>
                  <a:pt x="0" y="7882781"/>
                </a:lnTo>
                <a:lnTo>
                  <a:pt x="0" y="0"/>
                </a:lnTo>
                <a:close/>
              </a:path>
            </a:pathLst>
          </a:custGeom>
          <a:blipFill>
            <a:blip r:embed="rId1"/>
            <a:stretch>
              <a:fillRect/>
            </a:stretch>
          </a:blipFill>
        </p:spPr>
      </p:sp>
      <p:grpSp>
        <p:nvGrpSpPr>
          <p:cNvPr id="9" name="Group 9"/>
          <p:cNvGrpSpPr/>
          <p:nvPr/>
        </p:nvGrpSpPr>
        <p:grpSpPr>
          <a:xfrm rot="0">
            <a:off x="202563" y="3067121"/>
            <a:ext cx="17918523" cy="1544295"/>
            <a:chOff x="0" y="0"/>
            <a:chExt cx="4719282" cy="406728"/>
          </a:xfrm>
        </p:grpSpPr>
        <p:sp>
          <p:nvSpPr>
            <p:cNvPr id="10" name="Freeform 10"/>
            <p:cNvSpPr/>
            <p:nvPr/>
          </p:nvSpPr>
          <p:spPr>
            <a:xfrm>
              <a:off x="0" y="0"/>
              <a:ext cx="4719282" cy="406728"/>
            </a:xfrm>
            <a:custGeom>
              <a:avLst/>
              <a:gdLst/>
              <a:ahLst/>
              <a:cxnLst/>
              <a:rect l="l" t="t" r="r" b="b"/>
              <a:pathLst>
                <a:path w="4719282" h="406728">
                  <a:moveTo>
                    <a:pt x="13394" y="0"/>
                  </a:moveTo>
                  <a:lnTo>
                    <a:pt x="4705888" y="0"/>
                  </a:lnTo>
                  <a:cubicBezTo>
                    <a:pt x="4713285" y="0"/>
                    <a:pt x="4719282" y="5997"/>
                    <a:pt x="4719282" y="13394"/>
                  </a:cubicBezTo>
                  <a:lnTo>
                    <a:pt x="4719282" y="393334"/>
                  </a:lnTo>
                  <a:cubicBezTo>
                    <a:pt x="4719282" y="396886"/>
                    <a:pt x="4717871" y="400293"/>
                    <a:pt x="4715359" y="402805"/>
                  </a:cubicBezTo>
                  <a:cubicBezTo>
                    <a:pt x="4712847" y="405317"/>
                    <a:pt x="4709440" y="406728"/>
                    <a:pt x="4705888" y="406728"/>
                  </a:cubicBezTo>
                  <a:lnTo>
                    <a:pt x="13394" y="406728"/>
                  </a:lnTo>
                  <a:cubicBezTo>
                    <a:pt x="9842" y="406728"/>
                    <a:pt x="6435" y="405317"/>
                    <a:pt x="3923" y="402805"/>
                  </a:cubicBezTo>
                  <a:cubicBezTo>
                    <a:pt x="1411" y="400293"/>
                    <a:pt x="0" y="396886"/>
                    <a:pt x="0" y="393334"/>
                  </a:cubicBezTo>
                  <a:lnTo>
                    <a:pt x="0" y="13394"/>
                  </a:lnTo>
                  <a:cubicBezTo>
                    <a:pt x="0" y="9842"/>
                    <a:pt x="1411" y="6435"/>
                    <a:pt x="3923" y="3923"/>
                  </a:cubicBezTo>
                  <a:cubicBezTo>
                    <a:pt x="6435" y="1411"/>
                    <a:pt x="9842" y="0"/>
                    <a:pt x="13394" y="0"/>
                  </a:cubicBezTo>
                  <a:close/>
                </a:path>
              </a:pathLst>
            </a:custGeom>
            <a:gradFill rotWithShape="1">
              <a:gsLst>
                <a:gs pos="0">
                  <a:srgbClr val="F83308">
                    <a:alpha val="100000"/>
                  </a:srgbClr>
                </a:gs>
                <a:gs pos="100000">
                  <a:srgbClr val="480B00">
                    <a:alpha val="100000"/>
                  </a:srgbClr>
                </a:gs>
              </a:gsLst>
              <a:path path="circle">
                <a:fillToRect l="50000" t="50000" r="50000" b="50000"/>
              </a:path>
            </a:gradFill>
          </p:spPr>
        </p:sp>
        <p:sp>
          <p:nvSpPr>
            <p:cNvPr id="11" name="TextBox 11"/>
            <p:cNvSpPr txBox="1"/>
            <p:nvPr/>
          </p:nvSpPr>
          <p:spPr>
            <a:xfrm>
              <a:off x="0" y="-38100"/>
              <a:ext cx="4719282" cy="444828"/>
            </a:xfrm>
            <a:prstGeom prst="rect">
              <a:avLst/>
            </a:prstGeom>
          </p:spPr>
          <p:txBody>
            <a:bodyPr lIns="50800" tIns="50800" rIns="50800" bIns="50800" rtlCol="0" anchor="ctr"/>
            <a:lstStyle/>
            <a:p>
              <a:pPr algn="ctr">
                <a:lnSpc>
                  <a:spcPts val="2660"/>
                </a:lnSpc>
              </a:pPr>
            </a:p>
          </p:txBody>
        </p:sp>
      </p:grpSp>
      <p:sp>
        <p:nvSpPr>
          <p:cNvPr id="12" name="TextBox 12"/>
          <p:cNvSpPr txBox="1"/>
          <p:nvPr/>
        </p:nvSpPr>
        <p:spPr>
          <a:xfrm>
            <a:off x="17857396" y="8851031"/>
            <a:ext cx="263689" cy="197971"/>
          </a:xfrm>
          <a:prstGeom prst="rect">
            <a:avLst/>
          </a:prstGeom>
        </p:spPr>
        <p:txBody>
          <a:bodyPr lIns="0" tIns="0" rIns="0" bIns="0" rtlCol="0" anchor="t">
            <a:spAutoFit/>
          </a:bodyPr>
          <a:lstStyle/>
          <a:p>
            <a:pPr algn="ctr">
              <a:lnSpc>
                <a:spcPts val="1680"/>
              </a:lnSpc>
              <a:spcBef>
                <a:spcPct val="0"/>
              </a:spcBef>
            </a:pPr>
            <a:r>
              <a:rPr lang="en-US" sz="1200" b="1">
                <a:solidFill>
                  <a:srgbClr val="FFFFFF"/>
                </a:solidFill>
                <a:latin typeface="Open Sans Bold"/>
                <a:ea typeface="Open Sans Bold"/>
                <a:cs typeface="Open Sans Bold"/>
                <a:sym typeface="Open Sans Bold"/>
              </a:rPr>
              <a:t>01</a:t>
            </a:r>
            <a:endParaRPr lang="en-US" sz="1200" b="1">
              <a:solidFill>
                <a:srgbClr val="FFFFFF"/>
              </a:solidFill>
              <a:latin typeface="Open Sans Bold"/>
              <a:ea typeface="Open Sans Bold"/>
              <a:cs typeface="Open Sans Bold"/>
              <a:sym typeface="Open Sans Bold"/>
            </a:endParaRPr>
          </a:p>
        </p:txBody>
      </p:sp>
      <p:sp>
        <p:nvSpPr>
          <p:cNvPr id="13" name="TextBox 13"/>
          <p:cNvSpPr txBox="1"/>
          <p:nvPr/>
        </p:nvSpPr>
        <p:spPr>
          <a:xfrm>
            <a:off x="202563" y="1181100"/>
            <a:ext cx="10694321" cy="896365"/>
          </a:xfrm>
          <a:prstGeom prst="rect">
            <a:avLst/>
          </a:prstGeom>
        </p:spPr>
        <p:txBody>
          <a:bodyPr lIns="0" tIns="0" rIns="0" bIns="0" rtlCol="0" anchor="t">
            <a:spAutoFit/>
          </a:bodyPr>
          <a:lstStyle/>
          <a:p>
            <a:pPr algn="l">
              <a:lnSpc>
                <a:spcPts val="7105"/>
              </a:lnSpc>
            </a:pPr>
            <a:r>
              <a:rPr lang="en-US" sz="5920">
                <a:solidFill>
                  <a:srgbClr val="FFFFFF"/>
                </a:solidFill>
                <a:latin typeface="Changa SemiBold" panose="00000700000000000000"/>
                <a:ea typeface="Changa SemiBold" panose="00000700000000000000"/>
                <a:cs typeface="Changa SemiBold" panose="00000700000000000000"/>
                <a:sym typeface="Changa SemiBold" panose="00000700000000000000"/>
              </a:rPr>
              <a:t>SSH (Secure Shell)</a:t>
            </a:r>
            <a:endParaRPr lang="en-US" sz="5920">
              <a:solidFill>
                <a:srgbClr val="FFFFFF"/>
              </a:solidFill>
              <a:latin typeface="Changa SemiBold" panose="00000700000000000000"/>
              <a:ea typeface="Changa SemiBold" panose="00000700000000000000"/>
              <a:cs typeface="Changa SemiBold" panose="00000700000000000000"/>
              <a:sym typeface="Changa SemiBold" panose="00000700000000000000"/>
            </a:endParaRPr>
          </a:p>
        </p:txBody>
      </p:sp>
      <p:sp>
        <p:nvSpPr>
          <p:cNvPr id="14" name="TextBox 14"/>
          <p:cNvSpPr txBox="1"/>
          <p:nvPr/>
        </p:nvSpPr>
        <p:spPr>
          <a:xfrm>
            <a:off x="4871224" y="440845"/>
            <a:ext cx="5111081"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Red Hat System Security</a:t>
            </a:r>
            <a:endParaRPr lang="en-US" sz="2125">
              <a:solidFill>
                <a:srgbClr val="FFFFFF"/>
              </a:solidFill>
              <a:latin typeface="Open Sans"/>
              <a:ea typeface="Open Sans"/>
              <a:cs typeface="Open Sans"/>
              <a:sym typeface="Open Sans"/>
            </a:endParaRPr>
          </a:p>
        </p:txBody>
      </p:sp>
      <p:sp>
        <p:nvSpPr>
          <p:cNvPr id="15" name="TextBox 15"/>
          <p:cNvSpPr txBox="1"/>
          <p:nvPr/>
        </p:nvSpPr>
        <p:spPr>
          <a:xfrm>
            <a:off x="10860036" y="440845"/>
            <a:ext cx="2225355"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GTR 1ere Année</a:t>
            </a:r>
            <a:endParaRPr lang="en-US" sz="2125">
              <a:solidFill>
                <a:srgbClr val="FFFFFF"/>
              </a:solidFill>
              <a:latin typeface="Open Sans"/>
              <a:ea typeface="Open Sans"/>
              <a:cs typeface="Open Sans"/>
              <a:sym typeface="Open Sans"/>
            </a:endParaRPr>
          </a:p>
        </p:txBody>
      </p:sp>
      <p:sp>
        <p:nvSpPr>
          <p:cNvPr id="16" name="TextBox 16"/>
          <p:cNvSpPr txBox="1"/>
          <p:nvPr/>
        </p:nvSpPr>
        <p:spPr>
          <a:xfrm>
            <a:off x="462772" y="2221697"/>
            <a:ext cx="5061942" cy="845423"/>
          </a:xfrm>
          <a:prstGeom prst="rect">
            <a:avLst/>
          </a:prstGeom>
        </p:spPr>
        <p:txBody>
          <a:bodyPr lIns="0" tIns="0" rIns="0" bIns="0" rtlCol="0" anchor="t">
            <a:spAutoFit/>
          </a:bodyPr>
          <a:lstStyle/>
          <a:p>
            <a:pPr marL="1071880" lvl="1" indent="-535940" algn="l">
              <a:lnSpc>
                <a:spcPts val="6950"/>
              </a:lnSpc>
              <a:buFont typeface="Arial" panose="020B0604020202020204"/>
              <a:buChar char="•"/>
            </a:pPr>
            <a:r>
              <a:rPr lang="en-US" sz="4965" b="1">
                <a:solidFill>
                  <a:srgbClr val="FFFFFF"/>
                </a:solidFill>
                <a:latin typeface="Open Sans Bold"/>
                <a:ea typeface="Open Sans Bold"/>
                <a:cs typeface="Open Sans Bold"/>
                <a:sym typeface="Open Sans Bold"/>
              </a:rPr>
              <a:t>What is SSH?</a:t>
            </a:r>
            <a:endParaRPr lang="en-US" sz="4965" b="1">
              <a:solidFill>
                <a:srgbClr val="FFFFFF"/>
              </a:solidFill>
              <a:latin typeface="Open Sans Bold"/>
              <a:ea typeface="Open Sans Bold"/>
              <a:cs typeface="Open Sans Bold"/>
              <a:sym typeface="Open Sans Bold"/>
            </a:endParaRPr>
          </a:p>
        </p:txBody>
      </p:sp>
      <p:sp>
        <p:nvSpPr>
          <p:cNvPr id="17" name="TextBox 17"/>
          <p:cNvSpPr txBox="1"/>
          <p:nvPr/>
        </p:nvSpPr>
        <p:spPr>
          <a:xfrm>
            <a:off x="462772" y="4781621"/>
            <a:ext cx="6755457" cy="845423"/>
          </a:xfrm>
          <a:prstGeom prst="rect">
            <a:avLst/>
          </a:prstGeom>
        </p:spPr>
        <p:txBody>
          <a:bodyPr lIns="0" tIns="0" rIns="0" bIns="0" rtlCol="0" anchor="t">
            <a:spAutoFit/>
          </a:bodyPr>
          <a:lstStyle/>
          <a:p>
            <a:pPr marL="1071880" lvl="1" indent="-535940" algn="l">
              <a:lnSpc>
                <a:spcPts val="6950"/>
              </a:lnSpc>
              <a:buFont typeface="Arial" panose="020B0604020202020204"/>
              <a:buChar char="•"/>
            </a:pPr>
            <a:r>
              <a:rPr lang="en-US" sz="4965" b="1">
                <a:solidFill>
                  <a:srgbClr val="FFFFFF"/>
                </a:solidFill>
                <a:latin typeface="Open Sans Bold"/>
                <a:ea typeface="Open Sans Bold"/>
                <a:cs typeface="Open Sans Bold"/>
                <a:sym typeface="Open Sans Bold"/>
              </a:rPr>
              <a:t>Why SSH Matters?</a:t>
            </a:r>
            <a:endParaRPr lang="en-US" sz="4965" b="1">
              <a:solidFill>
                <a:srgbClr val="FFFFFF"/>
              </a:solidFill>
              <a:latin typeface="Open Sans Bold"/>
              <a:ea typeface="Open Sans Bold"/>
              <a:cs typeface="Open Sans Bold"/>
              <a:sym typeface="Open Sans Bold"/>
            </a:endParaRPr>
          </a:p>
        </p:txBody>
      </p:sp>
      <p:sp>
        <p:nvSpPr>
          <p:cNvPr id="18" name="TextBox 18"/>
          <p:cNvSpPr txBox="1"/>
          <p:nvPr/>
        </p:nvSpPr>
        <p:spPr>
          <a:xfrm>
            <a:off x="462772" y="7284394"/>
            <a:ext cx="6280993" cy="845423"/>
          </a:xfrm>
          <a:prstGeom prst="rect">
            <a:avLst/>
          </a:prstGeom>
        </p:spPr>
        <p:txBody>
          <a:bodyPr lIns="0" tIns="0" rIns="0" bIns="0" rtlCol="0" anchor="t">
            <a:spAutoFit/>
          </a:bodyPr>
          <a:lstStyle/>
          <a:p>
            <a:pPr marL="1071880" lvl="1" indent="-535940" algn="l">
              <a:lnSpc>
                <a:spcPts val="6950"/>
              </a:lnSpc>
              <a:buFont typeface="Arial" panose="020B0604020202020204"/>
              <a:buChar char="•"/>
            </a:pPr>
            <a:r>
              <a:rPr lang="en-US" sz="4965" b="1">
                <a:solidFill>
                  <a:srgbClr val="FFFFFF"/>
                </a:solidFill>
                <a:latin typeface="Open Sans Bold"/>
                <a:ea typeface="Open Sans Bold"/>
                <a:cs typeface="Open Sans Bold"/>
                <a:sym typeface="Open Sans Bold"/>
              </a:rPr>
              <a:t>How SSH Works?</a:t>
            </a:r>
            <a:endParaRPr lang="en-US" sz="4965" b="1">
              <a:solidFill>
                <a:srgbClr val="FFFFFF"/>
              </a:solidFill>
              <a:latin typeface="Open Sans Bold"/>
              <a:ea typeface="Open Sans Bold"/>
              <a:cs typeface="Open Sans Bold"/>
              <a:sym typeface="Open Sans Bold"/>
            </a:endParaRPr>
          </a:p>
        </p:txBody>
      </p:sp>
      <p:sp>
        <p:nvSpPr>
          <p:cNvPr id="19" name="TextBox 19"/>
          <p:cNvSpPr txBox="1"/>
          <p:nvPr/>
        </p:nvSpPr>
        <p:spPr>
          <a:xfrm>
            <a:off x="0" y="3234881"/>
            <a:ext cx="17989241" cy="1102060"/>
          </a:xfrm>
          <a:prstGeom prst="rect">
            <a:avLst/>
          </a:prstGeom>
        </p:spPr>
        <p:txBody>
          <a:bodyPr lIns="0" tIns="0" rIns="0" bIns="0" rtlCol="0" anchor="t">
            <a:spAutoFit/>
          </a:bodyPr>
          <a:lstStyle/>
          <a:p>
            <a:pPr algn="ctr">
              <a:lnSpc>
                <a:spcPts val="4355"/>
              </a:lnSpc>
            </a:pPr>
            <a:r>
              <a:rPr lang="en-US" sz="3110" b="1">
                <a:solidFill>
                  <a:srgbClr val="FFFFFF"/>
                </a:solidFill>
                <a:latin typeface="Arimo Bold" panose="020B0704020202020204"/>
                <a:ea typeface="Arimo Bold" panose="020B0704020202020204"/>
                <a:cs typeface="Arimo Bold" panose="020B0704020202020204"/>
                <a:sym typeface="Arimo Bold" panose="020B0704020202020204"/>
              </a:rPr>
              <a:t> SSH (Secure Shell) is a protocol for secure remote login and command execution. Use cases: Secure access to servers, remote administration, file transfers, tunneling, and more.</a:t>
            </a:r>
            <a:endParaRPr lang="en-US" sz="311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20" name="Group 20"/>
          <p:cNvGrpSpPr/>
          <p:nvPr/>
        </p:nvGrpSpPr>
        <p:grpSpPr>
          <a:xfrm rot="0">
            <a:off x="202563" y="5844874"/>
            <a:ext cx="17918523" cy="1544295"/>
            <a:chOff x="0" y="0"/>
            <a:chExt cx="4719282" cy="406728"/>
          </a:xfrm>
        </p:grpSpPr>
        <p:sp>
          <p:nvSpPr>
            <p:cNvPr id="21" name="Freeform 21"/>
            <p:cNvSpPr/>
            <p:nvPr/>
          </p:nvSpPr>
          <p:spPr>
            <a:xfrm>
              <a:off x="0" y="0"/>
              <a:ext cx="4719282" cy="406728"/>
            </a:xfrm>
            <a:custGeom>
              <a:avLst/>
              <a:gdLst/>
              <a:ahLst/>
              <a:cxnLst/>
              <a:rect l="l" t="t" r="r" b="b"/>
              <a:pathLst>
                <a:path w="4719282" h="406728">
                  <a:moveTo>
                    <a:pt x="13394" y="0"/>
                  </a:moveTo>
                  <a:lnTo>
                    <a:pt x="4705888" y="0"/>
                  </a:lnTo>
                  <a:cubicBezTo>
                    <a:pt x="4713285" y="0"/>
                    <a:pt x="4719282" y="5997"/>
                    <a:pt x="4719282" y="13394"/>
                  </a:cubicBezTo>
                  <a:lnTo>
                    <a:pt x="4719282" y="393334"/>
                  </a:lnTo>
                  <a:cubicBezTo>
                    <a:pt x="4719282" y="396886"/>
                    <a:pt x="4717871" y="400293"/>
                    <a:pt x="4715359" y="402805"/>
                  </a:cubicBezTo>
                  <a:cubicBezTo>
                    <a:pt x="4712847" y="405317"/>
                    <a:pt x="4709440" y="406728"/>
                    <a:pt x="4705888" y="406728"/>
                  </a:cubicBezTo>
                  <a:lnTo>
                    <a:pt x="13394" y="406728"/>
                  </a:lnTo>
                  <a:cubicBezTo>
                    <a:pt x="9842" y="406728"/>
                    <a:pt x="6435" y="405317"/>
                    <a:pt x="3923" y="402805"/>
                  </a:cubicBezTo>
                  <a:cubicBezTo>
                    <a:pt x="1411" y="400293"/>
                    <a:pt x="0" y="396886"/>
                    <a:pt x="0" y="393334"/>
                  </a:cubicBezTo>
                  <a:lnTo>
                    <a:pt x="0" y="13394"/>
                  </a:lnTo>
                  <a:cubicBezTo>
                    <a:pt x="0" y="9842"/>
                    <a:pt x="1411" y="6435"/>
                    <a:pt x="3923" y="3923"/>
                  </a:cubicBezTo>
                  <a:cubicBezTo>
                    <a:pt x="6435" y="1411"/>
                    <a:pt x="9842" y="0"/>
                    <a:pt x="13394" y="0"/>
                  </a:cubicBezTo>
                  <a:close/>
                </a:path>
              </a:pathLst>
            </a:custGeom>
            <a:gradFill rotWithShape="1">
              <a:gsLst>
                <a:gs pos="0">
                  <a:srgbClr val="F83308">
                    <a:alpha val="100000"/>
                  </a:srgbClr>
                </a:gs>
                <a:gs pos="100000">
                  <a:srgbClr val="480B00">
                    <a:alpha val="100000"/>
                  </a:srgbClr>
                </a:gs>
              </a:gsLst>
              <a:path path="circle">
                <a:fillToRect l="50000" t="50000" r="50000" b="50000"/>
              </a:path>
            </a:gradFill>
          </p:spPr>
        </p:sp>
        <p:sp>
          <p:nvSpPr>
            <p:cNvPr id="22" name="TextBox 22"/>
            <p:cNvSpPr txBox="1"/>
            <p:nvPr/>
          </p:nvSpPr>
          <p:spPr>
            <a:xfrm>
              <a:off x="0" y="-38100"/>
              <a:ext cx="4719282" cy="444828"/>
            </a:xfrm>
            <a:prstGeom prst="rect">
              <a:avLst/>
            </a:prstGeom>
          </p:spPr>
          <p:txBody>
            <a:bodyPr lIns="50800" tIns="50800" rIns="50800" bIns="50800" rtlCol="0" anchor="ctr"/>
            <a:lstStyle/>
            <a:p>
              <a:pPr algn="ctr">
                <a:lnSpc>
                  <a:spcPts val="2660"/>
                </a:lnSpc>
              </a:pPr>
            </a:p>
          </p:txBody>
        </p:sp>
      </p:grpSp>
      <p:sp>
        <p:nvSpPr>
          <p:cNvPr id="23" name="TextBox 23"/>
          <p:cNvSpPr txBox="1"/>
          <p:nvPr/>
        </p:nvSpPr>
        <p:spPr>
          <a:xfrm>
            <a:off x="149379" y="5808019"/>
            <a:ext cx="17430876" cy="1599813"/>
          </a:xfrm>
          <a:prstGeom prst="rect">
            <a:avLst/>
          </a:prstGeom>
        </p:spPr>
        <p:txBody>
          <a:bodyPr lIns="0" tIns="0" rIns="0" bIns="0" rtlCol="0" anchor="t">
            <a:spAutoFit/>
          </a:bodyPr>
          <a:lstStyle/>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 Ensures confidentiality, integrity, and authentication over untrusted networks.</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Use cases: Secure access to servers, remote administration, file transfers, tunneling, and more</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24" name="Group 24"/>
          <p:cNvGrpSpPr/>
          <p:nvPr/>
        </p:nvGrpSpPr>
        <p:grpSpPr>
          <a:xfrm rot="0">
            <a:off x="202563" y="8169153"/>
            <a:ext cx="17918523" cy="1797797"/>
            <a:chOff x="0" y="0"/>
            <a:chExt cx="4719282" cy="473494"/>
          </a:xfrm>
        </p:grpSpPr>
        <p:sp>
          <p:nvSpPr>
            <p:cNvPr id="25" name="Freeform 25"/>
            <p:cNvSpPr/>
            <p:nvPr/>
          </p:nvSpPr>
          <p:spPr>
            <a:xfrm>
              <a:off x="0" y="0"/>
              <a:ext cx="4719282" cy="473494"/>
            </a:xfrm>
            <a:custGeom>
              <a:avLst/>
              <a:gdLst/>
              <a:ahLst/>
              <a:cxnLst/>
              <a:rect l="l" t="t" r="r" b="b"/>
              <a:pathLst>
                <a:path w="4719282" h="473494">
                  <a:moveTo>
                    <a:pt x="13394" y="0"/>
                  </a:moveTo>
                  <a:lnTo>
                    <a:pt x="4705888" y="0"/>
                  </a:lnTo>
                  <a:cubicBezTo>
                    <a:pt x="4713285" y="0"/>
                    <a:pt x="4719282" y="5997"/>
                    <a:pt x="4719282" y="13394"/>
                  </a:cubicBezTo>
                  <a:lnTo>
                    <a:pt x="4719282" y="460100"/>
                  </a:lnTo>
                  <a:cubicBezTo>
                    <a:pt x="4719282" y="463652"/>
                    <a:pt x="4717871" y="467059"/>
                    <a:pt x="4715359" y="469571"/>
                  </a:cubicBezTo>
                  <a:cubicBezTo>
                    <a:pt x="4712847" y="472083"/>
                    <a:pt x="4709440" y="473494"/>
                    <a:pt x="4705888" y="473494"/>
                  </a:cubicBezTo>
                  <a:lnTo>
                    <a:pt x="13394" y="473494"/>
                  </a:lnTo>
                  <a:cubicBezTo>
                    <a:pt x="5997" y="473494"/>
                    <a:pt x="0" y="467497"/>
                    <a:pt x="0" y="460100"/>
                  </a:cubicBezTo>
                  <a:lnTo>
                    <a:pt x="0" y="13394"/>
                  </a:lnTo>
                  <a:cubicBezTo>
                    <a:pt x="0" y="9842"/>
                    <a:pt x="1411" y="6435"/>
                    <a:pt x="3923" y="3923"/>
                  </a:cubicBezTo>
                  <a:cubicBezTo>
                    <a:pt x="6435" y="1411"/>
                    <a:pt x="9842" y="0"/>
                    <a:pt x="13394" y="0"/>
                  </a:cubicBezTo>
                  <a:close/>
                </a:path>
              </a:pathLst>
            </a:custGeom>
            <a:gradFill rotWithShape="1">
              <a:gsLst>
                <a:gs pos="0">
                  <a:srgbClr val="F83308">
                    <a:alpha val="100000"/>
                  </a:srgbClr>
                </a:gs>
                <a:gs pos="100000">
                  <a:srgbClr val="480B00">
                    <a:alpha val="100000"/>
                  </a:srgbClr>
                </a:gs>
              </a:gsLst>
              <a:path path="circle">
                <a:fillToRect l="50000" t="50000" r="50000" b="50000"/>
              </a:path>
            </a:gradFill>
          </p:spPr>
        </p:sp>
        <p:sp>
          <p:nvSpPr>
            <p:cNvPr id="26" name="TextBox 26"/>
            <p:cNvSpPr txBox="1"/>
            <p:nvPr/>
          </p:nvSpPr>
          <p:spPr>
            <a:xfrm>
              <a:off x="0" y="-38100"/>
              <a:ext cx="4719282" cy="511594"/>
            </a:xfrm>
            <a:prstGeom prst="rect">
              <a:avLst/>
            </a:prstGeom>
          </p:spPr>
          <p:txBody>
            <a:bodyPr lIns="50800" tIns="50800" rIns="50800" bIns="50800" rtlCol="0" anchor="ctr"/>
            <a:lstStyle/>
            <a:p>
              <a:pPr algn="ctr">
                <a:lnSpc>
                  <a:spcPts val="2660"/>
                </a:lnSpc>
              </a:pPr>
            </a:p>
          </p:txBody>
        </p:sp>
      </p:grpSp>
      <p:sp>
        <p:nvSpPr>
          <p:cNvPr id="27" name="TextBox 27"/>
          <p:cNvSpPr txBox="1"/>
          <p:nvPr/>
        </p:nvSpPr>
        <p:spPr>
          <a:xfrm>
            <a:off x="19494" y="8225067"/>
            <a:ext cx="17837902" cy="2140823"/>
          </a:xfrm>
          <a:prstGeom prst="rect">
            <a:avLst/>
          </a:prstGeom>
        </p:spPr>
        <p:txBody>
          <a:bodyPr lIns="0" tIns="0" rIns="0" bIns="0" rtlCol="0" anchor="t">
            <a:spAutoFit/>
          </a:bodyPr>
          <a:lstStyle/>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Client-Server Model: The client initiates the connection, and the server listens on TCP port 22.</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marL="650875" lvl="1" indent="-325755" algn="just">
              <a:lnSpc>
                <a:spcPts val="4220"/>
              </a:lnSpc>
              <a:buFont typeface="Arial" panose="020B0604020202020204"/>
              <a:buChar char="•"/>
            </a:pPr>
            <a:r>
              <a:rPr lang="en-US" sz="3015" b="1">
                <a:solidFill>
                  <a:srgbClr val="FFFFFF"/>
                </a:solidFill>
                <a:latin typeface="Arimo Bold" panose="020B0704020202020204"/>
                <a:ea typeface="Arimo Bold" panose="020B0704020202020204"/>
                <a:cs typeface="Arimo Bold" panose="020B0704020202020204"/>
                <a:sym typeface="Arimo Bold" panose="020B0704020202020204"/>
              </a:rPr>
              <a:t>Authentication Methods: Supports passwords, key pairs, and advanced methods like Kerberos or certificates.</a:t>
            </a:r>
            <a:endParaRPr lang="en-US" sz="3015" b="1">
              <a:solidFill>
                <a:srgbClr val="FFFFFF"/>
              </a:solidFill>
              <a:latin typeface="Arimo Bold" panose="020B0704020202020204"/>
              <a:ea typeface="Arimo Bold" panose="020B0704020202020204"/>
              <a:cs typeface="Arimo Bold" panose="020B0704020202020204"/>
              <a:sym typeface="Arimo Bold" panose="020B0704020202020204"/>
            </a:endParaRPr>
          </a:p>
          <a:p>
            <a:pPr algn="just" rtl="1">
              <a:lnSpc>
                <a:spcPts val="4220"/>
              </a:lnSpc>
            </a:p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0000">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3365358" y="-3350441"/>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sp>
        <p:nvSpPr>
          <p:cNvPr id="3" name="Freeform 3"/>
          <p:cNvSpPr/>
          <p:nvPr/>
        </p:nvSpPr>
        <p:spPr>
          <a:xfrm>
            <a:off x="-1907864" y="6708518"/>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grpSp>
        <p:nvGrpSpPr>
          <p:cNvPr id="4" name="Group 4"/>
          <p:cNvGrpSpPr/>
          <p:nvPr/>
        </p:nvGrpSpPr>
        <p:grpSpPr>
          <a:xfrm rot="0">
            <a:off x="17690482" y="8660782"/>
            <a:ext cx="597518" cy="597518"/>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FF0000">
                    <a:alpha val="100000"/>
                  </a:srgbClr>
                </a:gs>
                <a:gs pos="100000">
                  <a:srgbClr val="5E0000">
                    <a:alpha val="100000"/>
                  </a:srgbClr>
                </a:gs>
              </a:gsLst>
              <a:lin ang="2700000"/>
            </a:gradFill>
          </p:spPr>
        </p:sp>
        <p:sp>
          <p:nvSpPr>
            <p:cNvPr id="6" name="TextBox 6"/>
            <p:cNvSpPr txBox="1"/>
            <p:nvPr/>
          </p:nvSpPr>
          <p:spPr>
            <a:xfrm>
              <a:off x="0" y="-38100"/>
              <a:ext cx="812800" cy="850900"/>
            </a:xfrm>
            <a:prstGeom prst="rect">
              <a:avLst/>
            </a:prstGeom>
          </p:spPr>
          <p:txBody>
            <a:bodyPr lIns="50800" tIns="50800" rIns="50800" bIns="50800" rtlCol="0" anchor="ctr"/>
            <a:lstStyle/>
            <a:p>
              <a:pPr algn="ctr">
                <a:lnSpc>
                  <a:spcPts val="2660"/>
                </a:lnSpc>
              </a:pPr>
            </a:p>
          </p:txBody>
        </p:sp>
      </p:grpSp>
      <p:sp>
        <p:nvSpPr>
          <p:cNvPr id="7" name="Freeform 7"/>
          <p:cNvSpPr/>
          <p:nvPr/>
        </p:nvSpPr>
        <p:spPr>
          <a:xfrm flipH="1" flipV="1">
            <a:off x="17450371" y="454502"/>
            <a:ext cx="407026" cy="407026"/>
          </a:xfrm>
          <a:custGeom>
            <a:avLst/>
            <a:gdLst/>
            <a:ahLst/>
            <a:cxnLst/>
            <a:rect l="l" t="t" r="r" b="b"/>
            <a:pathLst>
              <a:path w="407026" h="407026">
                <a:moveTo>
                  <a:pt x="407025" y="407026"/>
                </a:moveTo>
                <a:lnTo>
                  <a:pt x="0" y="407026"/>
                </a:lnTo>
                <a:lnTo>
                  <a:pt x="0" y="0"/>
                </a:lnTo>
                <a:lnTo>
                  <a:pt x="407025" y="0"/>
                </a:lnTo>
                <a:lnTo>
                  <a:pt x="407025" y="40702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5202610" y="1059552"/>
            <a:ext cx="7882781" cy="7882781"/>
          </a:xfrm>
          <a:custGeom>
            <a:avLst/>
            <a:gdLst/>
            <a:ahLst/>
            <a:cxnLst/>
            <a:rect l="l" t="t" r="r" b="b"/>
            <a:pathLst>
              <a:path w="7882781" h="7882781">
                <a:moveTo>
                  <a:pt x="0" y="0"/>
                </a:moveTo>
                <a:lnTo>
                  <a:pt x="7882780" y="0"/>
                </a:lnTo>
                <a:lnTo>
                  <a:pt x="7882780" y="7882781"/>
                </a:lnTo>
                <a:lnTo>
                  <a:pt x="0" y="7882781"/>
                </a:lnTo>
                <a:lnTo>
                  <a:pt x="0" y="0"/>
                </a:lnTo>
                <a:close/>
              </a:path>
            </a:pathLst>
          </a:custGeom>
          <a:blipFill>
            <a:blip r:embed="rId1"/>
            <a:stretch>
              <a:fillRect/>
            </a:stretch>
          </a:blipFill>
        </p:spPr>
      </p:sp>
      <p:sp>
        <p:nvSpPr>
          <p:cNvPr id="9" name="Freeform 9"/>
          <p:cNvSpPr/>
          <p:nvPr/>
        </p:nvSpPr>
        <p:spPr>
          <a:xfrm>
            <a:off x="153167" y="4299109"/>
            <a:ext cx="766587" cy="768509"/>
          </a:xfrm>
          <a:custGeom>
            <a:avLst/>
            <a:gdLst/>
            <a:ahLst/>
            <a:cxnLst/>
            <a:rect l="l" t="t" r="r" b="b"/>
            <a:pathLst>
              <a:path w="766587" h="768509">
                <a:moveTo>
                  <a:pt x="0" y="0"/>
                </a:moveTo>
                <a:lnTo>
                  <a:pt x="766588" y="0"/>
                </a:lnTo>
                <a:lnTo>
                  <a:pt x="766588" y="768508"/>
                </a:lnTo>
                <a:lnTo>
                  <a:pt x="0" y="7685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55486" y="6501148"/>
            <a:ext cx="764269" cy="766184"/>
          </a:xfrm>
          <a:custGeom>
            <a:avLst/>
            <a:gdLst/>
            <a:ahLst/>
            <a:cxnLst/>
            <a:rect l="l" t="t" r="r" b="b"/>
            <a:pathLst>
              <a:path w="764269" h="766184">
                <a:moveTo>
                  <a:pt x="0" y="0"/>
                </a:moveTo>
                <a:lnTo>
                  <a:pt x="764269" y="0"/>
                </a:lnTo>
                <a:lnTo>
                  <a:pt x="764269" y="766184"/>
                </a:lnTo>
                <a:lnTo>
                  <a:pt x="0" y="7661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53167" y="2206923"/>
            <a:ext cx="766587" cy="766587"/>
          </a:xfrm>
          <a:custGeom>
            <a:avLst/>
            <a:gdLst/>
            <a:ahLst/>
            <a:cxnLst/>
            <a:rect l="l" t="t" r="r" b="b"/>
            <a:pathLst>
              <a:path w="766587" h="766587">
                <a:moveTo>
                  <a:pt x="0" y="0"/>
                </a:moveTo>
                <a:lnTo>
                  <a:pt x="766588" y="0"/>
                </a:lnTo>
                <a:lnTo>
                  <a:pt x="766588" y="766588"/>
                </a:lnTo>
                <a:lnTo>
                  <a:pt x="0" y="76658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17857396" y="8851031"/>
            <a:ext cx="263689" cy="215265"/>
          </a:xfrm>
          <a:prstGeom prst="rect">
            <a:avLst/>
          </a:prstGeom>
        </p:spPr>
        <p:txBody>
          <a:bodyPr lIns="0" tIns="0" rIns="0" bIns="0" rtlCol="0" anchor="t">
            <a:spAutoFit/>
          </a:bodyPr>
          <a:lstStyle/>
          <a:p>
            <a:pPr algn="ctr">
              <a:lnSpc>
                <a:spcPts val="1680"/>
              </a:lnSpc>
              <a:spcBef>
                <a:spcPct val="0"/>
              </a:spcBef>
            </a:pPr>
            <a:r>
              <a:rPr lang="fr-FR" altLang="en-US" sz="1200" b="1">
                <a:solidFill>
                  <a:srgbClr val="FFFFFF"/>
                </a:solidFill>
                <a:latin typeface="Open Sans Bold"/>
                <a:ea typeface="Open Sans Bold"/>
                <a:cs typeface="Open Sans Bold"/>
                <a:sym typeface="Open Sans Bold"/>
              </a:rPr>
              <a:t>10</a:t>
            </a:r>
            <a:endParaRPr lang="fr-FR" altLang="en-US" sz="1200" b="1">
              <a:solidFill>
                <a:srgbClr val="FFFFFF"/>
              </a:solidFill>
              <a:latin typeface="Open Sans Bold"/>
              <a:ea typeface="Open Sans Bold"/>
              <a:cs typeface="Open Sans Bold"/>
              <a:sym typeface="Open Sans Bold"/>
            </a:endParaRPr>
          </a:p>
        </p:txBody>
      </p:sp>
      <p:sp>
        <p:nvSpPr>
          <p:cNvPr id="13" name="TextBox 13"/>
          <p:cNvSpPr txBox="1"/>
          <p:nvPr/>
        </p:nvSpPr>
        <p:spPr>
          <a:xfrm>
            <a:off x="6356486" y="1254125"/>
            <a:ext cx="5575029" cy="1069172"/>
          </a:xfrm>
          <a:prstGeom prst="rect">
            <a:avLst/>
          </a:prstGeom>
        </p:spPr>
        <p:txBody>
          <a:bodyPr lIns="0" tIns="0" rIns="0" bIns="0" rtlCol="0" anchor="t">
            <a:spAutoFit/>
          </a:bodyPr>
          <a:lstStyle/>
          <a:p>
            <a:pPr algn="ctr">
              <a:lnSpc>
                <a:spcPts val="8485"/>
              </a:lnSpc>
            </a:pPr>
            <a:r>
              <a:rPr lang="en-US" sz="7070">
                <a:solidFill>
                  <a:srgbClr val="FFFFFF"/>
                </a:solidFill>
                <a:latin typeface="Changa SemiBold" panose="00000700000000000000"/>
                <a:ea typeface="Changa SemiBold" panose="00000700000000000000"/>
                <a:cs typeface="Changa SemiBold" panose="00000700000000000000"/>
                <a:sym typeface="Changa SemiBold" panose="00000700000000000000"/>
              </a:rPr>
              <a:t>SSH Features</a:t>
            </a:r>
            <a:endParaRPr lang="en-US" sz="7070">
              <a:solidFill>
                <a:srgbClr val="FFFFFF"/>
              </a:solidFill>
              <a:latin typeface="Changa SemiBold" panose="00000700000000000000"/>
              <a:ea typeface="Changa SemiBold" panose="00000700000000000000"/>
              <a:cs typeface="Changa SemiBold" panose="00000700000000000000"/>
              <a:sym typeface="Changa SemiBold" panose="00000700000000000000"/>
            </a:endParaRPr>
          </a:p>
        </p:txBody>
      </p:sp>
      <p:sp>
        <p:nvSpPr>
          <p:cNvPr id="14" name="TextBox 14"/>
          <p:cNvSpPr txBox="1"/>
          <p:nvPr/>
        </p:nvSpPr>
        <p:spPr>
          <a:xfrm>
            <a:off x="4871224" y="440845"/>
            <a:ext cx="5111081"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Red Hat System Security</a:t>
            </a:r>
            <a:endParaRPr lang="en-US" sz="2125">
              <a:solidFill>
                <a:srgbClr val="FFFFFF"/>
              </a:solidFill>
              <a:latin typeface="Open Sans"/>
              <a:ea typeface="Open Sans"/>
              <a:cs typeface="Open Sans"/>
              <a:sym typeface="Open Sans"/>
            </a:endParaRPr>
          </a:p>
        </p:txBody>
      </p:sp>
      <p:sp>
        <p:nvSpPr>
          <p:cNvPr id="15" name="TextBox 15"/>
          <p:cNvSpPr txBox="1"/>
          <p:nvPr/>
        </p:nvSpPr>
        <p:spPr>
          <a:xfrm>
            <a:off x="10860036" y="440845"/>
            <a:ext cx="2225355"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GTR 1ere Année</a:t>
            </a:r>
            <a:endParaRPr lang="en-US" sz="2125">
              <a:solidFill>
                <a:srgbClr val="FFFFFF"/>
              </a:solidFill>
              <a:latin typeface="Open Sans"/>
              <a:ea typeface="Open Sans"/>
              <a:cs typeface="Open Sans"/>
              <a:sym typeface="Open Sans"/>
            </a:endParaRPr>
          </a:p>
        </p:txBody>
      </p:sp>
      <p:sp>
        <p:nvSpPr>
          <p:cNvPr id="16" name="TextBox 16"/>
          <p:cNvSpPr txBox="1"/>
          <p:nvPr/>
        </p:nvSpPr>
        <p:spPr>
          <a:xfrm>
            <a:off x="1040130" y="2221865"/>
            <a:ext cx="9409430" cy="890905"/>
          </a:xfrm>
          <a:prstGeom prst="rect">
            <a:avLst/>
          </a:prstGeom>
        </p:spPr>
        <p:txBody>
          <a:bodyPr wrap="square" lIns="0" tIns="0" rIns="0" bIns="0" rtlCol="0" anchor="t">
            <a:spAutoFit/>
          </a:bodyPr>
          <a:lstStyle/>
          <a:p>
            <a:pPr algn="l">
              <a:lnSpc>
                <a:spcPts val="6950"/>
              </a:lnSpc>
            </a:pPr>
            <a:r>
              <a:rPr lang="en-US" sz="4965" b="1">
                <a:solidFill>
                  <a:srgbClr val="FFFFFF"/>
                </a:solidFill>
                <a:latin typeface="Open Sans Bold"/>
                <a:ea typeface="Open Sans Bold"/>
                <a:cs typeface="Open Sans Bold"/>
                <a:sym typeface="Open Sans Bold"/>
              </a:rPr>
              <a:t>Remote Login</a:t>
            </a:r>
            <a:endParaRPr lang="en-US" sz="4965" b="1">
              <a:solidFill>
                <a:srgbClr val="FFFFFF"/>
              </a:solidFill>
              <a:latin typeface="Open Sans Bold"/>
              <a:ea typeface="Open Sans Bold"/>
              <a:cs typeface="Open Sans Bold"/>
              <a:sym typeface="Open Sans Bold"/>
            </a:endParaRPr>
          </a:p>
        </p:txBody>
      </p:sp>
      <p:sp>
        <p:nvSpPr>
          <p:cNvPr id="17" name="TextBox 17"/>
          <p:cNvSpPr txBox="1"/>
          <p:nvPr/>
        </p:nvSpPr>
        <p:spPr>
          <a:xfrm>
            <a:off x="-2754921" y="3237863"/>
            <a:ext cx="17989241" cy="658195"/>
          </a:xfrm>
          <a:prstGeom prst="rect">
            <a:avLst/>
          </a:prstGeom>
        </p:spPr>
        <p:txBody>
          <a:bodyPr lIns="0" tIns="0" rIns="0" bIns="0" rtlCol="0" anchor="t">
            <a:spAutoFit/>
          </a:bodyPr>
          <a:lstStyle/>
          <a:p>
            <a:pPr algn="ctr">
              <a:lnSpc>
                <a:spcPts val="5195"/>
              </a:lnSpc>
            </a:pPr>
            <a:r>
              <a:rPr lang="en-US" sz="3710" b="1">
                <a:solidFill>
                  <a:srgbClr val="FFFFFF"/>
                </a:solidFill>
                <a:latin typeface="Arimo Bold" panose="020B0704020202020204"/>
                <a:ea typeface="Arimo Bold" panose="020B0704020202020204"/>
                <a:cs typeface="Arimo Bold" panose="020B0704020202020204"/>
                <a:sym typeface="Arimo Bold" panose="020B0704020202020204"/>
              </a:rPr>
              <a:t> Securely connect to a remote machine.</a:t>
            </a:r>
            <a:endParaRPr lang="en-US" sz="371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18" name="TextBox 18"/>
          <p:cNvSpPr txBox="1"/>
          <p:nvPr/>
        </p:nvSpPr>
        <p:spPr>
          <a:xfrm>
            <a:off x="1040130" y="4222115"/>
            <a:ext cx="9057005" cy="890905"/>
          </a:xfrm>
          <a:prstGeom prst="rect">
            <a:avLst/>
          </a:prstGeom>
        </p:spPr>
        <p:txBody>
          <a:bodyPr wrap="square" lIns="0" tIns="0" rIns="0" bIns="0" rtlCol="0" anchor="t">
            <a:spAutoFit/>
          </a:bodyPr>
          <a:lstStyle/>
          <a:p>
            <a:pPr algn="l">
              <a:lnSpc>
                <a:spcPts val="6950"/>
              </a:lnSpc>
            </a:pPr>
            <a:r>
              <a:rPr lang="en-US" sz="4965" b="1">
                <a:solidFill>
                  <a:srgbClr val="FFFFFF"/>
                </a:solidFill>
                <a:latin typeface="Open Sans Bold"/>
                <a:ea typeface="Open Sans Bold"/>
                <a:cs typeface="Open Sans Bold"/>
                <a:sym typeface="Open Sans Bold"/>
              </a:rPr>
              <a:t>File Transfer</a:t>
            </a:r>
            <a:endParaRPr lang="en-US" sz="4965" b="1">
              <a:solidFill>
                <a:srgbClr val="FFFFFF"/>
              </a:solidFill>
              <a:latin typeface="Open Sans Bold"/>
              <a:ea typeface="Open Sans Bold"/>
              <a:cs typeface="Open Sans Bold"/>
              <a:sym typeface="Open Sans Bold"/>
            </a:endParaRPr>
          </a:p>
        </p:txBody>
      </p:sp>
      <p:sp>
        <p:nvSpPr>
          <p:cNvPr id="19" name="TextBox 19"/>
          <p:cNvSpPr txBox="1"/>
          <p:nvPr/>
        </p:nvSpPr>
        <p:spPr>
          <a:xfrm>
            <a:off x="1335939" y="5415666"/>
            <a:ext cx="8994621" cy="658195"/>
          </a:xfrm>
          <a:prstGeom prst="rect">
            <a:avLst/>
          </a:prstGeom>
        </p:spPr>
        <p:txBody>
          <a:bodyPr lIns="0" tIns="0" rIns="0" bIns="0" rtlCol="0" anchor="t">
            <a:spAutoFit/>
          </a:bodyPr>
          <a:lstStyle/>
          <a:p>
            <a:pPr algn="ctr">
              <a:lnSpc>
                <a:spcPts val="5195"/>
              </a:lnSpc>
            </a:pPr>
            <a:r>
              <a:rPr lang="en-US" sz="3710" b="1">
                <a:solidFill>
                  <a:srgbClr val="FFFFFF"/>
                </a:solidFill>
                <a:latin typeface="Arimo Bold" panose="020B0704020202020204"/>
                <a:ea typeface="Arimo Bold" panose="020B0704020202020204"/>
                <a:cs typeface="Arimo Bold" panose="020B0704020202020204"/>
                <a:sym typeface="Arimo Bold" panose="020B0704020202020204"/>
              </a:rPr>
              <a:t>Tools like scp and rsync over SSH.</a:t>
            </a:r>
            <a:endParaRPr lang="en-US" sz="371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
        <p:nvSpPr>
          <p:cNvPr id="20" name="TextBox 20"/>
          <p:cNvSpPr txBox="1"/>
          <p:nvPr/>
        </p:nvSpPr>
        <p:spPr>
          <a:xfrm>
            <a:off x="1040130" y="6421755"/>
            <a:ext cx="8263255" cy="890905"/>
          </a:xfrm>
          <a:prstGeom prst="rect">
            <a:avLst/>
          </a:prstGeom>
        </p:spPr>
        <p:txBody>
          <a:bodyPr wrap="square" lIns="0" tIns="0" rIns="0" bIns="0" rtlCol="0" anchor="t">
            <a:spAutoFit/>
          </a:bodyPr>
          <a:lstStyle/>
          <a:p>
            <a:pPr algn="l">
              <a:lnSpc>
                <a:spcPts val="6950"/>
              </a:lnSpc>
            </a:pPr>
            <a:r>
              <a:rPr lang="en-US" sz="4965" b="1">
                <a:solidFill>
                  <a:srgbClr val="FFFFFF"/>
                </a:solidFill>
                <a:latin typeface="Open Sans Bold"/>
                <a:ea typeface="Open Sans Bold"/>
                <a:cs typeface="Open Sans Bold"/>
                <a:sym typeface="Open Sans Bold"/>
              </a:rPr>
              <a:t>Automation</a:t>
            </a:r>
            <a:endParaRPr lang="en-US" sz="4965" b="1">
              <a:solidFill>
                <a:srgbClr val="FFFFFF"/>
              </a:solidFill>
              <a:latin typeface="Open Sans Bold"/>
              <a:ea typeface="Open Sans Bold"/>
              <a:cs typeface="Open Sans Bold"/>
              <a:sym typeface="Open Sans Bold"/>
            </a:endParaRPr>
          </a:p>
        </p:txBody>
      </p:sp>
      <p:sp>
        <p:nvSpPr>
          <p:cNvPr id="21" name="TextBox 21"/>
          <p:cNvSpPr txBox="1"/>
          <p:nvPr/>
        </p:nvSpPr>
        <p:spPr>
          <a:xfrm>
            <a:off x="1847850" y="7644121"/>
            <a:ext cx="11291237" cy="1332230"/>
          </a:xfrm>
          <a:prstGeom prst="rect">
            <a:avLst/>
          </a:prstGeom>
        </p:spPr>
        <p:txBody>
          <a:bodyPr lIns="0" tIns="0" rIns="0" bIns="0" rtlCol="0" anchor="t">
            <a:spAutoFit/>
          </a:bodyPr>
          <a:lstStyle/>
          <a:p>
            <a:pPr algn="l">
              <a:lnSpc>
                <a:spcPts val="5195"/>
              </a:lnSpc>
            </a:pPr>
            <a:r>
              <a:rPr lang="en-US" sz="3710" b="1">
                <a:solidFill>
                  <a:srgbClr val="FFFFFF"/>
                </a:solidFill>
                <a:latin typeface="Arimo Bold" panose="020B0704020202020204"/>
                <a:ea typeface="Arimo Bold" panose="020B0704020202020204"/>
                <a:cs typeface="Arimo Bold" panose="020B0704020202020204"/>
                <a:sym typeface="Arimo Bold" panose="020B0704020202020204"/>
              </a:rPr>
              <a:t>SSH keys for password-less login.</a:t>
            </a:r>
            <a:endParaRPr lang="en-US" sz="3710" b="1">
              <a:solidFill>
                <a:srgbClr val="FFFFFF"/>
              </a:solidFill>
              <a:latin typeface="Arimo Bold" panose="020B0704020202020204"/>
              <a:ea typeface="Arimo Bold" panose="020B0704020202020204"/>
              <a:cs typeface="Arimo Bold" panose="020B0704020202020204"/>
              <a:sym typeface="Arimo Bold" panose="020B0704020202020204"/>
            </a:endParaRPr>
          </a:p>
          <a:p>
            <a:pPr algn="l">
              <a:lnSpc>
                <a:spcPts val="5195"/>
              </a:lnSpc>
            </a:pPr>
            <a:r>
              <a:rPr lang="en-US" sz="3710" b="1">
                <a:solidFill>
                  <a:srgbClr val="FFFFFF"/>
                </a:solidFill>
                <a:latin typeface="Arimo Bold" panose="020B0704020202020204"/>
                <a:ea typeface="Arimo Bold" panose="020B0704020202020204"/>
                <a:cs typeface="Arimo Bold" panose="020B0704020202020204"/>
                <a:sym typeface="Arimo Bold" panose="020B0704020202020204"/>
              </a:rPr>
              <a:t>Use in scripts for remote task execution.</a:t>
            </a:r>
            <a:endParaRPr lang="en-US" sz="3710" b="1">
              <a:solidFill>
                <a:srgbClr val="FFFFFF"/>
              </a:solidFill>
              <a:latin typeface="Arimo Bold" panose="020B0704020202020204"/>
              <a:ea typeface="Arimo Bold" panose="020B0704020202020204"/>
              <a:cs typeface="Arimo Bold" panose="020B0704020202020204"/>
              <a:sym typeface="Arimo Bold" panose="020B070402020202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A0000">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3365358" y="-3350441"/>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grpSp>
        <p:nvGrpSpPr>
          <p:cNvPr id="3" name="Group 3"/>
          <p:cNvGrpSpPr/>
          <p:nvPr/>
        </p:nvGrpSpPr>
        <p:grpSpPr>
          <a:xfrm rot="0">
            <a:off x="17690482" y="8660782"/>
            <a:ext cx="597518" cy="597518"/>
            <a:chOff x="0" y="0"/>
            <a:chExt cx="812800" cy="812800"/>
          </a:xfrm>
        </p:grpSpPr>
        <p:sp>
          <p:nvSpPr>
            <p:cNvPr id="4" name="Freeform 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gradFill rotWithShape="1">
              <a:gsLst>
                <a:gs pos="0">
                  <a:srgbClr val="FF0000">
                    <a:alpha val="100000"/>
                  </a:srgbClr>
                </a:gs>
                <a:gs pos="100000">
                  <a:srgbClr val="5E0000">
                    <a:alpha val="100000"/>
                  </a:srgbClr>
                </a:gs>
              </a:gsLst>
              <a:lin ang="2700000"/>
            </a:gradFill>
          </p:spPr>
        </p:sp>
        <p:sp>
          <p:nvSpPr>
            <p:cNvPr id="5" name="TextBox 5"/>
            <p:cNvSpPr txBox="1"/>
            <p:nvPr/>
          </p:nvSpPr>
          <p:spPr>
            <a:xfrm>
              <a:off x="0" y="-38100"/>
              <a:ext cx="812800" cy="850900"/>
            </a:xfrm>
            <a:prstGeom prst="rect">
              <a:avLst/>
            </a:prstGeom>
          </p:spPr>
          <p:txBody>
            <a:bodyPr lIns="50800" tIns="50800" rIns="50800" bIns="50800" rtlCol="0" anchor="ctr"/>
            <a:lstStyle/>
            <a:p>
              <a:pPr algn="ctr">
                <a:lnSpc>
                  <a:spcPts val="2660"/>
                </a:lnSpc>
              </a:pPr>
            </a:p>
          </p:txBody>
        </p:sp>
      </p:grpSp>
      <p:sp>
        <p:nvSpPr>
          <p:cNvPr id="6" name="Freeform 6"/>
          <p:cNvSpPr/>
          <p:nvPr/>
        </p:nvSpPr>
        <p:spPr>
          <a:xfrm flipH="1" flipV="1">
            <a:off x="17450371" y="454502"/>
            <a:ext cx="407026" cy="407026"/>
          </a:xfrm>
          <a:custGeom>
            <a:avLst/>
            <a:gdLst/>
            <a:ahLst/>
            <a:cxnLst/>
            <a:rect l="l" t="t" r="r" b="b"/>
            <a:pathLst>
              <a:path w="407026" h="407026">
                <a:moveTo>
                  <a:pt x="407025" y="407026"/>
                </a:moveTo>
                <a:lnTo>
                  <a:pt x="0" y="407026"/>
                </a:lnTo>
                <a:lnTo>
                  <a:pt x="0" y="0"/>
                </a:lnTo>
                <a:lnTo>
                  <a:pt x="407025" y="0"/>
                </a:lnTo>
                <a:lnTo>
                  <a:pt x="407025" y="40702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7857396" y="8851031"/>
            <a:ext cx="263689" cy="215265"/>
          </a:xfrm>
          <a:prstGeom prst="rect">
            <a:avLst/>
          </a:prstGeom>
        </p:spPr>
        <p:txBody>
          <a:bodyPr lIns="0" tIns="0" rIns="0" bIns="0" rtlCol="0" anchor="t">
            <a:spAutoFit/>
          </a:bodyPr>
          <a:lstStyle/>
          <a:p>
            <a:pPr algn="ctr">
              <a:lnSpc>
                <a:spcPts val="1680"/>
              </a:lnSpc>
              <a:spcBef>
                <a:spcPct val="0"/>
              </a:spcBef>
            </a:pPr>
            <a:r>
              <a:rPr lang="en-US" sz="1200" b="1">
                <a:solidFill>
                  <a:srgbClr val="FFFFFF"/>
                </a:solidFill>
                <a:latin typeface="Open Sans Bold"/>
                <a:ea typeface="Open Sans Bold"/>
                <a:cs typeface="Open Sans Bold"/>
                <a:sym typeface="Open Sans Bold"/>
              </a:rPr>
              <a:t>1</a:t>
            </a:r>
            <a:r>
              <a:rPr lang="fr-FR" altLang="en-US" sz="1200" b="1">
                <a:solidFill>
                  <a:srgbClr val="FFFFFF"/>
                </a:solidFill>
                <a:latin typeface="Open Sans Bold"/>
                <a:ea typeface="Open Sans Bold"/>
                <a:cs typeface="Open Sans Bold"/>
                <a:sym typeface="Open Sans Bold"/>
              </a:rPr>
              <a:t>1</a:t>
            </a:r>
            <a:endParaRPr lang="fr-FR" altLang="en-US" sz="1200" b="1">
              <a:solidFill>
                <a:srgbClr val="FFFFFF"/>
              </a:solidFill>
              <a:latin typeface="Open Sans Bold"/>
              <a:ea typeface="Open Sans Bold"/>
              <a:cs typeface="Open Sans Bold"/>
              <a:sym typeface="Open Sans Bold"/>
            </a:endParaRPr>
          </a:p>
        </p:txBody>
      </p:sp>
      <p:sp>
        <p:nvSpPr>
          <p:cNvPr id="8" name="Freeform 8"/>
          <p:cNvSpPr/>
          <p:nvPr/>
        </p:nvSpPr>
        <p:spPr>
          <a:xfrm>
            <a:off x="-1907864" y="6708518"/>
            <a:ext cx="7156964" cy="7156964"/>
          </a:xfrm>
          <a:custGeom>
            <a:avLst/>
            <a:gdLst/>
            <a:ahLst/>
            <a:cxnLst/>
            <a:rect l="l" t="t" r="r" b="b"/>
            <a:pathLst>
              <a:path w="7156964" h="7156964">
                <a:moveTo>
                  <a:pt x="0" y="0"/>
                </a:moveTo>
                <a:lnTo>
                  <a:pt x="7156963" y="0"/>
                </a:lnTo>
                <a:lnTo>
                  <a:pt x="7156963" y="7156964"/>
                </a:lnTo>
                <a:lnTo>
                  <a:pt x="0" y="7156964"/>
                </a:lnTo>
                <a:lnTo>
                  <a:pt x="0" y="0"/>
                </a:lnTo>
                <a:close/>
              </a:path>
            </a:pathLst>
          </a:custGeom>
          <a:blipFill>
            <a:blip r:embed="rId1">
              <a:alphaModFix amt="30000"/>
            </a:blip>
            <a:stretch>
              <a:fillRect/>
            </a:stretch>
          </a:blipFill>
        </p:spPr>
      </p:sp>
      <p:sp>
        <p:nvSpPr>
          <p:cNvPr id="9" name="Freeform 9"/>
          <p:cNvSpPr/>
          <p:nvPr/>
        </p:nvSpPr>
        <p:spPr>
          <a:xfrm>
            <a:off x="5202610" y="1202110"/>
            <a:ext cx="7882781" cy="7882781"/>
          </a:xfrm>
          <a:custGeom>
            <a:avLst/>
            <a:gdLst/>
            <a:ahLst/>
            <a:cxnLst/>
            <a:rect l="l" t="t" r="r" b="b"/>
            <a:pathLst>
              <a:path w="7882781" h="7882781">
                <a:moveTo>
                  <a:pt x="0" y="0"/>
                </a:moveTo>
                <a:lnTo>
                  <a:pt x="7882780" y="0"/>
                </a:lnTo>
                <a:lnTo>
                  <a:pt x="7882780" y="7882780"/>
                </a:lnTo>
                <a:lnTo>
                  <a:pt x="0" y="7882780"/>
                </a:lnTo>
                <a:lnTo>
                  <a:pt x="0" y="0"/>
                </a:lnTo>
                <a:close/>
              </a:path>
            </a:pathLst>
          </a:custGeom>
          <a:blipFill>
            <a:blip r:embed="rId1"/>
            <a:stretch>
              <a:fillRect/>
            </a:stretch>
          </a:blipFill>
        </p:spPr>
      </p:sp>
      <p:sp>
        <p:nvSpPr>
          <p:cNvPr id="10" name="TextBox 10"/>
          <p:cNvSpPr txBox="1"/>
          <p:nvPr/>
        </p:nvSpPr>
        <p:spPr>
          <a:xfrm>
            <a:off x="2061408" y="2361511"/>
            <a:ext cx="14165185" cy="4411453"/>
          </a:xfrm>
          <a:prstGeom prst="rect">
            <a:avLst/>
          </a:prstGeom>
        </p:spPr>
        <p:txBody>
          <a:bodyPr lIns="0" tIns="0" rIns="0" bIns="0" rtlCol="0" anchor="t">
            <a:spAutoFit/>
          </a:bodyPr>
          <a:lstStyle/>
          <a:p>
            <a:pPr algn="ctr">
              <a:lnSpc>
                <a:spcPts val="35380"/>
              </a:lnSpc>
              <a:spcBef>
                <a:spcPct val="0"/>
              </a:spcBef>
            </a:pPr>
            <a:r>
              <a:rPr lang="en-US" sz="25270" b="1">
                <a:solidFill>
                  <a:srgbClr val="FFFFFF"/>
                </a:solidFill>
                <a:latin typeface="Bebas Neue Bold" panose="020B0606020202050201"/>
                <a:ea typeface="Bebas Neue Bold" panose="020B0606020202050201"/>
                <a:cs typeface="Bebas Neue Bold" panose="020B0606020202050201"/>
                <a:sym typeface="Bebas Neue Bold" panose="020B0606020202050201"/>
              </a:rPr>
              <a:t>THANK YOU</a:t>
            </a:r>
            <a:endParaRPr lang="en-US" sz="25270" b="1">
              <a:solidFill>
                <a:srgbClr val="FFFFFF"/>
              </a:solidFill>
              <a:latin typeface="Bebas Neue Bold" panose="020B0606020202050201"/>
              <a:ea typeface="Bebas Neue Bold" panose="020B0606020202050201"/>
              <a:cs typeface="Bebas Neue Bold" panose="020B0606020202050201"/>
              <a:sym typeface="Bebas Neue Bold" panose="020B0606020202050201"/>
            </a:endParaRPr>
          </a:p>
        </p:txBody>
      </p:sp>
      <p:sp>
        <p:nvSpPr>
          <p:cNvPr id="11" name="TextBox 11"/>
          <p:cNvSpPr txBox="1"/>
          <p:nvPr/>
        </p:nvSpPr>
        <p:spPr>
          <a:xfrm>
            <a:off x="3996730" y="6632318"/>
            <a:ext cx="10294540" cy="752477"/>
          </a:xfrm>
          <a:prstGeom prst="rect">
            <a:avLst/>
          </a:prstGeom>
        </p:spPr>
        <p:txBody>
          <a:bodyPr lIns="0" tIns="0" rIns="0" bIns="0" rtlCol="0" anchor="t">
            <a:spAutoFit/>
          </a:bodyPr>
          <a:lstStyle/>
          <a:p>
            <a:pPr algn="ctr">
              <a:lnSpc>
                <a:spcPts val="6300"/>
              </a:lnSpc>
              <a:spcBef>
                <a:spcPct val="0"/>
              </a:spcBef>
            </a:pPr>
            <a:r>
              <a:rPr lang="en-US" sz="4500">
                <a:solidFill>
                  <a:srgbClr val="FFFFFF"/>
                </a:solidFill>
                <a:latin typeface="Open Sans"/>
                <a:ea typeface="Open Sans"/>
                <a:cs typeface="Open Sans"/>
                <a:sym typeface="Open Sans"/>
              </a:rPr>
              <a:t>For your attention</a:t>
            </a:r>
            <a:endParaRPr lang="en-US" sz="4500">
              <a:solidFill>
                <a:srgbClr val="FFFFFF"/>
              </a:solidFill>
              <a:latin typeface="Open Sans"/>
              <a:ea typeface="Open Sans"/>
              <a:cs typeface="Open Sans"/>
              <a:sym typeface="Open Sans"/>
            </a:endParaRPr>
          </a:p>
        </p:txBody>
      </p:sp>
      <p:sp>
        <p:nvSpPr>
          <p:cNvPr id="12" name="TextBox 12"/>
          <p:cNvSpPr txBox="1"/>
          <p:nvPr/>
        </p:nvSpPr>
        <p:spPr>
          <a:xfrm>
            <a:off x="4871224" y="440845"/>
            <a:ext cx="5111081"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Red Hat System Security</a:t>
            </a:r>
            <a:endParaRPr lang="en-US" sz="2125">
              <a:solidFill>
                <a:srgbClr val="FFFFFF"/>
              </a:solidFill>
              <a:latin typeface="Open Sans"/>
              <a:ea typeface="Open Sans"/>
              <a:cs typeface="Open Sans"/>
              <a:sym typeface="Open Sans"/>
            </a:endParaRPr>
          </a:p>
        </p:txBody>
      </p:sp>
      <p:sp>
        <p:nvSpPr>
          <p:cNvPr id="13" name="TextBox 13"/>
          <p:cNvSpPr txBox="1"/>
          <p:nvPr/>
        </p:nvSpPr>
        <p:spPr>
          <a:xfrm>
            <a:off x="10860036" y="440845"/>
            <a:ext cx="2225355" cy="355433"/>
          </a:xfrm>
          <a:prstGeom prst="rect">
            <a:avLst/>
          </a:prstGeom>
        </p:spPr>
        <p:txBody>
          <a:bodyPr lIns="0" tIns="0" rIns="0" bIns="0" rtlCol="0" anchor="t">
            <a:spAutoFit/>
          </a:bodyPr>
          <a:lstStyle/>
          <a:p>
            <a:pPr algn="l">
              <a:lnSpc>
                <a:spcPts val="2975"/>
              </a:lnSpc>
              <a:spcBef>
                <a:spcPct val="0"/>
              </a:spcBef>
            </a:pPr>
            <a:r>
              <a:rPr lang="en-US" sz="2125">
                <a:solidFill>
                  <a:srgbClr val="FFFFFF"/>
                </a:solidFill>
                <a:latin typeface="Open Sans"/>
                <a:ea typeface="Open Sans"/>
                <a:cs typeface="Open Sans"/>
                <a:sym typeface="Open Sans"/>
              </a:rPr>
              <a:t>GTR 1ere Année</a:t>
            </a:r>
            <a:endParaRPr lang="en-US" sz="2125">
              <a:solidFill>
                <a:srgbClr val="FFFFFF"/>
              </a:solidFill>
              <a:latin typeface="Open Sans"/>
              <a:ea typeface="Open Sans"/>
              <a:cs typeface="Open Sans"/>
              <a:sym typeface="Open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3731</Words>
  <Application>WPS Presentation</Application>
  <PresentationFormat>On-screen Show (4:3)</PresentationFormat>
  <Paragraphs>178</Paragraphs>
  <Slides>11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vt:i4>
      </vt:variant>
    </vt:vector>
  </HeadingPairs>
  <TitlesOfParts>
    <vt:vector size="25" baseType="lpstr">
      <vt:lpstr>Arial</vt:lpstr>
      <vt:lpstr>SimSun</vt:lpstr>
      <vt:lpstr>Wingdings</vt:lpstr>
      <vt:lpstr>Open Sans Bold</vt:lpstr>
      <vt:lpstr>Bebas Neue Bold</vt:lpstr>
      <vt:lpstr>Open Sans</vt:lpstr>
      <vt:lpstr>Changa SemiBold</vt:lpstr>
      <vt:lpstr>Arial</vt:lpstr>
      <vt:lpstr>Arimo Bold</vt:lpstr>
      <vt:lpstr>Arimo</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RHEL LINUX Presentation</dc:title>
  <dc:creator/>
  <cp:lastModifiedBy>elmqi</cp:lastModifiedBy>
  <cp:revision>2</cp:revision>
  <dcterms:created xsi:type="dcterms:W3CDTF">2006-08-16T00:00:00Z</dcterms:created>
  <dcterms:modified xsi:type="dcterms:W3CDTF">2024-12-19T05:58:04Z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43BB149D9EE94551A263AAF5B7275074_12</vt:lpwstr>
  </property>
  <property fmtid="{D5CDD505-2E9C-101B-9397-08002B2CF9AE}" pid="3" name="KSOProductBuildVer">
    <vt:lpwstr>3084-12.2.0.18639</vt:lpwstr>
  </property>
</Properties>
</file>